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4048" y="2011680"/>
            <a:ext cx="5760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10243A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0243A"/>
                </a:solidFill>
                <a:latin typeface="Calibri"/>
              </a:rPr>
              <a:t>Problem Statement ID : </a:t>
            </a:r>
            <a:r>
              <a:rPr sz="1500" b="1" i="0">
                <a:solidFill>
                  <a:srgbClr val="1D6FA5"/>
                </a:solidFill>
                <a:latin typeface="Calibri"/>
              </a:rPr>
              <a:t>26153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10243A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0243A"/>
                </a:solidFill>
                <a:latin typeface="Calibri"/>
              </a:rPr>
              <a:t>Problem Statement Title : </a:t>
            </a:r>
            <a:r>
              <a:rPr sz="1500" b="1" i="0">
                <a:solidFill>
                  <a:srgbClr val="3D8A63"/>
                </a:solidFill>
                <a:latin typeface="Calibri"/>
              </a:rPr>
              <a:t>AI based Network Attack Forecasting from Network Traffic Data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10243A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0243A"/>
                </a:solidFill>
                <a:latin typeface="Calibri"/>
              </a:rPr>
              <a:t>Theme : </a:t>
            </a:r>
            <a:r>
              <a:rPr sz="1500" b="1" i="0">
                <a:solidFill>
                  <a:srgbClr val="1D6FA5"/>
                </a:solidFill>
                <a:latin typeface="Calibri"/>
              </a:rPr>
              <a:t>Blockchain &amp; Cybersecurity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10243A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0243A"/>
                </a:solidFill>
                <a:latin typeface="Calibri"/>
              </a:rPr>
              <a:t>PS Category : </a:t>
            </a:r>
            <a:r>
              <a:rPr sz="1500" b="1" i="0">
                <a:solidFill>
                  <a:srgbClr val="1D6FA5"/>
                </a:solidFill>
                <a:latin typeface="Calibri"/>
              </a:rPr>
              <a:t>Software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10243A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0243A"/>
                </a:solidFill>
                <a:latin typeface="Calibri"/>
              </a:rPr>
              <a:t>Team ID : </a:t>
            </a:r>
            <a:r>
              <a:rPr sz="1500" b="1" i="0">
                <a:solidFill>
                  <a:srgbClr val="1D6FA5"/>
                </a:solidFill>
                <a:latin typeface="Calibri"/>
              </a:rPr>
              <a:t>&lt;Team ID&gt;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10243A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0243A"/>
                </a:solidFill>
                <a:latin typeface="Calibri"/>
              </a:rPr>
              <a:t>Team Name : </a:t>
            </a:r>
            <a:r>
              <a:rPr sz="1500" b="1" i="0">
                <a:solidFill>
                  <a:srgbClr val="1D6FA5"/>
                </a:solidFill>
                <a:latin typeface="Calibri"/>
              </a:rPr>
              <a:t>&lt;Registered Team Name&gt;</a:t>
            </a:r>
          </a:p>
        </p:txBody>
      </p:sp>
      <p:pic>
        <p:nvPicPr>
          <p:cNvPr id="39" name="Picture 38" descr="nidra_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188720"/>
            <a:ext cx="2176272" cy="621792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384048" y="5193792"/>
            <a:ext cx="5440680" cy="1060704"/>
          </a:xfrm>
          <a:prstGeom prst="roundRect">
            <a:avLst>
              <a:gd name="adj" fmla="val 4500"/>
            </a:avLst>
          </a:prstGeom>
          <a:solidFill>
            <a:srgbClr val="1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2100" b="1" i="0" spc="300">
                <a:solidFill>
                  <a:srgbClr val="FFFFFF"/>
                </a:solidFill>
                <a:latin typeface="Calibri"/>
              </a:rPr>
              <a:t>N I D R A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9D4E0"/>
                </a:solidFill>
                <a:latin typeface="Calibri"/>
              </a:rPr>
              <a:t>Network Intrusion Dynamics &amp; Risk Anticipation — a network world model that forecasts attack trajectories before compromise completes.</a:t>
            </a:r>
          </a:p>
          <a:p>
            <a:pPr algn="l">
              <a:spcBef>
                <a:spcPts val="400"/>
              </a:spcBef>
            </a:pPr>
            <a:r>
              <a:rPr sz="950" b="1" i="0" spc="120">
                <a:solidFill>
                  <a:srgbClr val="9FC2DE"/>
                </a:solidFill>
                <a:latin typeface="Calibri"/>
              </a:rPr>
              <a:t>OBSERVE  →  REPRESENT  →  LEARN DYNAMICS  →  IMAGINE  →  FORECAST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200" b="1" i="0" spc="150">
                <a:solidFill>
                  <a:srgbClr val="FFFFFF"/>
                </a:solidFill>
                <a:latin typeface="Calibri"/>
              </a:rPr>
              <a:t>@Team NIDRA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nidra_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46304"/>
            <a:ext cx="1664208" cy="475488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2148840" y="4572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 i="0" spc="260">
                <a:solidFill>
                  <a:srgbClr val="10243A"/>
                </a:solidFill>
                <a:latin typeface="Calibri"/>
              </a:rPr>
              <a:t>NIDRA — PROPOSED SOLUTION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2148840" y="585216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B6B7B"/>
                </a:solidFill>
                <a:latin typeface="Calibri"/>
              </a:rPr>
              <a:t>Network Intrusion Dynamics &amp; Risk Anticipation · a world model that forecasts attack trajectories — not an intrusion detector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10442448" y="905256"/>
            <a:ext cx="1417320" cy="237744"/>
          </a:xfrm>
          <a:prstGeom prst="roundRect">
            <a:avLst>
              <a:gd name="adj" fmla="val 4500"/>
            </a:avLst>
          </a:prstGeom>
          <a:solidFill>
            <a:srgbClr val="FDF3E7"/>
          </a:solidFill>
          <a:ln w="9525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C9821F"/>
                </a:solidFill>
                <a:latin typeface="Calibri"/>
              </a:rPr>
              <a:t>★ = innovation</a:t>
            </a:r>
          </a:p>
        </p:txBody>
      </p:sp>
      <p:pic>
        <p:nvPicPr>
          <p:cNvPr id="15367" name="Picture 15366" descr="h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207008"/>
            <a:ext cx="6967728" cy="3103806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274320" y="4347390"/>
            <a:ext cx="69677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5B6B7B"/>
                </a:solidFill>
                <a:latin typeface="Calibri"/>
              </a:rPr>
              <a:t>Observed risk (solid) meets NOW; everything right of the rule is simulated — states the model generated, scored by a frozen classifier that never saw them. Threshold crossed at t+3: </a:t>
            </a:r>
            <a:r>
              <a:rPr sz="900" b="1" i="0">
                <a:solidFill>
                  <a:srgbClr val="10243A"/>
                </a:solidFill>
                <a:latin typeface="Calibri"/>
              </a:rPr>
              <a:t>90 seconds of warning. </a:t>
            </a:r>
            <a:r>
              <a:rPr sz="900" b="0" i="0">
                <a:solidFill>
                  <a:srgbClr val="5B6B7B"/>
                </a:solidFill>
                <a:latin typeface="Calibri"/>
              </a:rPr>
              <a:t>The ✕ marks are what actually happened. Values illustrative of the demo scenario.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7424927" y="1207008"/>
            <a:ext cx="4434840" cy="274320"/>
          </a:xfrm>
          <a:prstGeom prst="rect">
            <a:avLst/>
          </a:prstGeom>
          <a:solidFill>
            <a:srgbClr val="FBECF0"/>
          </a:solidFill>
          <a:ln w="12700">
            <a:solidFill>
              <a:srgbClr val="A83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A8394F"/>
                </a:solidFill>
                <a:latin typeface="Calibri"/>
              </a:rPr>
              <a:t>THE PROBLEM WITH DETECTION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7424927" y="1481328"/>
            <a:ext cx="44348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83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A8394F"/>
                </a:solidFill>
                <a:latin typeface="Calibri"/>
              </a:rPr>
              <a:t>▸ </a:t>
            </a:r>
            <a:r>
              <a:rPr sz="1050" b="1" i="0">
                <a:solidFill>
                  <a:srgbClr val="A8394F"/>
                </a:solidFill>
                <a:latin typeface="Calibri"/>
              </a:rPr>
              <a:t>Detection is always late.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An IDS computes f(traffic) → benign / malicious. It fires once the evidence exists — the behaviour already happened.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A8394F"/>
                </a:solidFill>
                <a:latin typeface="Calibri"/>
              </a:rPr>
              <a:t>▸ </a:t>
            </a:r>
            <a:r>
              <a:rPr sz="1050" b="1" i="0">
                <a:solidFill>
                  <a:srgbClr val="A8394F"/>
                </a:solidFill>
                <a:latin typeface="Calibri"/>
              </a:rPr>
              <a:t>Attacks are processes, not packets.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Recon → scan → access → lateral → C2 → exfil unfolds over minutes. Per-flow classifiers discard that structure entirely.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A8394F"/>
                </a:solidFill>
                <a:latin typeface="Calibri"/>
              </a:rPr>
              <a:t>▸ </a:t>
            </a:r>
            <a:r>
              <a:rPr sz="1050" b="1" i="0">
                <a:solidFill>
                  <a:srgbClr val="A8394F"/>
                </a:solidFill>
                <a:latin typeface="Calibri"/>
              </a:rPr>
              <a:t>Labels are the bottleneck.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Supervised IDS needs labelled attacks: expensive, stale, and they do not transfer between networks.</a:t>
            </a:r>
          </a:p>
        </p:txBody>
      </p:sp>
      <p:sp>
        <p:nvSpPr>
          <p:cNvPr id="15371" name="Rectangle 15370"/>
          <p:cNvSpPr/>
          <p:nvPr/>
        </p:nvSpPr>
        <p:spPr>
          <a:xfrm>
            <a:off x="7424927" y="3236976"/>
            <a:ext cx="44348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10243A"/>
                </a:solidFill>
                <a:latin typeface="Calibri"/>
              </a:rPr>
              <a:t>WHAT NIDRA PREDICTS — THREE LEVELS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7424927" y="3511296"/>
            <a:ext cx="4434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D6FA5"/>
                </a:solidFill>
                <a:latin typeface="Calibri"/>
              </a:rPr>
              <a:t>1 · STATE 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what will behaviour look like?  </a:t>
            </a:r>
            <a:r>
              <a:rPr sz="1050" b="1" i="0">
                <a:solidFill>
                  <a:srgbClr val="10243A"/>
                </a:solidFill>
                <a:latin typeface="Calibri"/>
              </a:rPr>
              <a:t>Ŝ t+1 … Ŝ t+6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7A68A6"/>
                </a:solidFill>
                <a:latin typeface="Calibri"/>
              </a:rPr>
              <a:t>2 · THREAT 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how likely is compromise?  </a:t>
            </a:r>
            <a:r>
              <a:rPr sz="1050" b="1" i="0">
                <a:solidFill>
                  <a:srgbClr val="10243A"/>
                </a:solidFill>
                <a:latin typeface="Calibri"/>
              </a:rPr>
              <a:t>P(compromise at t+k) + 90% band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C9821F"/>
                </a:solidFill>
                <a:latin typeface="Calibri"/>
              </a:rPr>
              <a:t>3 · PROGRESSION 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which stage is it approaching?  </a:t>
            </a:r>
            <a:r>
              <a:rPr sz="1050" b="1" i="0">
                <a:solidFill>
                  <a:srgbClr val="10243A"/>
                </a:solidFill>
                <a:latin typeface="Calibri"/>
              </a:rPr>
              <a:t>P(stage | Ŝ), ATT&amp;CK tactic</a:t>
            </a:r>
          </a:p>
          <a:p>
            <a:pPr algn="l">
              <a:lnSpc>
                <a:spcPct val="102000"/>
              </a:lnSpc>
              <a:spcBef>
                <a:spcPts val="300"/>
              </a:spcBef>
            </a:pPr>
            <a:r>
              <a:rPr sz="950" b="0" i="1">
                <a:solidFill>
                  <a:srgbClr val="5B6B7B"/>
                </a:solidFill>
                <a:latin typeface="Calibri"/>
              </a:rPr>
              <a:t>Every level derives from the same simulated trajectory — “312 of 1000 futures reach Lateral Movement” is a fraction across sampled rollouts, not a point estimate.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274320" y="4956048"/>
            <a:ext cx="5806440" cy="274320"/>
          </a:xfrm>
          <a:prstGeom prst="rect">
            <a:avLst/>
          </a:prstGeom>
          <a:solidFill>
            <a:srgbClr val="F2EFFA"/>
          </a:solidFill>
          <a:ln w="12700">
            <a:solidFill>
              <a:srgbClr val="7A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7A68A6"/>
                </a:solidFill>
                <a:latin typeface="Calibri"/>
              </a:rPr>
              <a:t>PROPOSED SOLUTION</a:t>
            </a:r>
          </a:p>
        </p:txBody>
      </p:sp>
      <p:sp>
        <p:nvSpPr>
          <p:cNvPr id="15374" name="Rectangle 15373"/>
          <p:cNvSpPr/>
          <p:nvPr/>
        </p:nvSpPr>
        <p:spPr>
          <a:xfrm>
            <a:off x="274320" y="5230368"/>
            <a:ext cx="5806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A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7A68A6"/>
                </a:solidFill>
                <a:latin typeface="Calibri"/>
              </a:rPr>
              <a:t>▸ </a:t>
            </a:r>
            <a:r>
              <a:rPr sz="950" b="1" i="0">
                <a:solidFill>
                  <a:srgbClr val="7A68A6"/>
                </a:solidFill>
                <a:latin typeface="Calibri"/>
              </a:rPr>
              <a:t>Learn dynamics, not a boundary.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NIDRA models P(S t+1 | h t) — how a host's behaviour evolves window to window.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C9821F"/>
                </a:solidFill>
                <a:latin typeface="Calibri"/>
              </a:rPr>
              <a:t>★ </a:t>
            </a:r>
            <a:r>
              <a:rPr sz="950" b="1" i="0">
                <a:solidFill>
                  <a:srgbClr val="10243A"/>
                </a:solidFill>
                <a:latin typeface="Calibri"/>
              </a:rPr>
              <a:t>Simulates futures it never observed.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Recursive K-step rollout generates the next 6 windows, consuming no real data after NOW.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9821F"/>
                </a:solidFill>
                <a:latin typeface="Calibri"/>
              </a:rPr>
              <a:t>★ </a:t>
            </a:r>
            <a:r>
              <a:rPr sz="950" b="1" i="0">
                <a:solidFill>
                  <a:srgbClr val="10243A"/>
                </a:solidFill>
                <a:latin typeface="Calibri"/>
              </a:rPr>
              <a:t>Frozen heads.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Risk &amp; stage classifiers train on observed states only, then freeze — all early warning must come from the learned dynamics.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6309360" y="4956048"/>
            <a:ext cx="5550408" cy="274320"/>
          </a:xfrm>
          <a:prstGeom prst="rect">
            <a:avLst/>
          </a:prstGeom>
          <a:solidFill>
            <a:srgbClr val="E9F5EE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3D8A63"/>
                </a:solidFill>
                <a:latin typeface="Calibri"/>
              </a:rPr>
              <a:t>UVP — UNIQUE VALUE PROPOSITION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6309360" y="5230368"/>
            <a:ext cx="555040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C9821F"/>
                </a:solidFill>
                <a:latin typeface="Calibri"/>
              </a:rPr>
              <a:t>★ </a:t>
            </a:r>
            <a:r>
              <a:rPr sz="950" b="1" i="0">
                <a:solidFill>
                  <a:srgbClr val="10243A"/>
                </a:solidFill>
                <a:latin typeface="Calibri"/>
              </a:rPr>
              <a:t>Forecast, not alert.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Output has a time axis, a confidence band and a lead time in seconds — enough to act, not just investigate.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C9821F"/>
                </a:solidFill>
                <a:latin typeface="Calibri"/>
              </a:rPr>
              <a:t>★ </a:t>
            </a:r>
            <a:r>
              <a:rPr sz="950" b="1" i="0">
                <a:solidFill>
                  <a:srgbClr val="10243A"/>
                </a:solidFill>
                <a:latin typeface="Calibri"/>
              </a:rPr>
              <a:t>Counterfactual simulation.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“What if fan-out stops?” — needs a reusable transition operator; no detection product has one. Labelled model-internal what-if.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3D8A63"/>
                </a:solidFill>
                <a:latin typeface="Calibri"/>
              </a:rPr>
              <a:t>▸ </a:t>
            </a:r>
            <a:r>
              <a:rPr sz="950" b="1" i="0">
                <a:solidFill>
                  <a:srgbClr val="3D8A63"/>
                </a:solidFill>
                <a:latin typeface="Calibri"/>
              </a:rPr>
              <a:t>Learns without labels.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Pretrains self-supervised on ordinary traffic; adapts to a new network by watching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200" b="1" i="0" spc="150">
                <a:solidFill>
                  <a:srgbClr val="FFFFFF"/>
                </a:solidFill>
                <a:latin typeface="Calibri"/>
              </a:rPr>
              <a:t>@Team NIDRA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nidra_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46304"/>
            <a:ext cx="1664208" cy="475488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2148840" y="4572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 i="0" spc="260">
                <a:solidFill>
                  <a:srgbClr val="10243A"/>
                </a:solidFill>
                <a:latin typeface="Calibri"/>
              </a:rPr>
              <a:t>TECHNICAL APPROACH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148840" y="585216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B6B7B"/>
                </a:solidFill>
                <a:latin typeface="Calibri"/>
              </a:rPr>
              <a:t>One pipeline: telemetry → named state → latent dynamics → simulated futures → three prediction levels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274320" y="896112"/>
            <a:ext cx="7818120" cy="237744"/>
          </a:xfrm>
          <a:prstGeom prst="rect">
            <a:avLst/>
          </a:prstGeom>
          <a:solidFill>
            <a:srgbClr val="F2EFFA"/>
          </a:solidFill>
          <a:ln w="12700">
            <a:solidFill>
              <a:srgbClr val="7A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7A68A6"/>
                </a:solidFill>
                <a:latin typeface="Calibri"/>
              </a:rPr>
              <a:t>WORLD MODEL PIPELINE</a:t>
            </a:r>
          </a:p>
        </p:txBody>
      </p:sp>
      <p:pic>
        <p:nvPicPr>
          <p:cNvPr id="17415" name="Picture 17414" descr="d2_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79576"/>
            <a:ext cx="7818120" cy="1605506"/>
          </a:xfrm>
          <a:prstGeom prst="rect">
            <a:avLst/>
          </a:prstGeom>
        </p:spPr>
      </p:pic>
      <p:sp>
        <p:nvSpPr>
          <p:cNvPr id="17416" name="Rectangle 17415"/>
          <p:cNvSpPr/>
          <p:nvPr/>
        </p:nvSpPr>
        <p:spPr>
          <a:xfrm>
            <a:off x="8275320" y="1097280"/>
            <a:ext cx="3584448" cy="237744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10243A"/>
                </a:solidFill>
                <a:latin typeface="Calibri"/>
              </a:rPr>
              <a:t>PARAMETERS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8275320" y="1335024"/>
            <a:ext cx="3584448" cy="145005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Calibri"/>
              </a:rPr>
              <a:t>Window Δ = 30 s  </a:t>
            </a:r>
            <a:r>
              <a:rPr sz="1000" b="0" i="0">
                <a:solidFill>
                  <a:srgbClr val="5B6B7B"/>
                </a:solidFill>
                <a:latin typeface="Calibri"/>
              </a:rPr>
              <a:t>· latent z = 32-d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Calibri"/>
              </a:rPr>
              <a:t>Context L = 30 windows  </a:t>
            </a:r>
            <a:r>
              <a:rPr sz="1000" b="0" i="0">
                <a:solidFill>
                  <a:srgbClr val="5B6B7B"/>
                </a:solidFill>
                <a:latin typeface="Calibri"/>
              </a:rPr>
              <a:t>(15 min history)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Calibri"/>
              </a:rPr>
              <a:t>Horizon K = 6  </a:t>
            </a:r>
            <a:r>
              <a:rPr sz="1000" b="0" i="0">
                <a:solidFill>
                  <a:srgbClr val="5B6B7B"/>
                </a:solidFill>
                <a:latin typeface="Calibri"/>
              </a:rPr>
              <a:t>→ 3 min forecast reach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Calibri"/>
              </a:rPr>
              <a:t>Dynamics  </a:t>
            </a:r>
            <a:r>
              <a:rPr sz="1000" b="0" i="0">
                <a:solidFill>
                  <a:srgbClr val="5B6B7B"/>
                </a:solidFill>
                <a:latin typeface="Calibri"/>
              </a:rPr>
              <a:t>2-layer GRU, 128 hidden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Calibri"/>
              </a:rPr>
              <a:t>Ensemble  </a:t>
            </a:r>
            <a:r>
              <a:rPr sz="1000" b="0" i="0">
                <a:solidFill>
                  <a:srgbClr val="5B6B7B"/>
                </a:solidFill>
                <a:latin typeface="Calibri"/>
              </a:rPr>
              <a:t>5 seeds · ~1000 trajectories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Calibri"/>
              </a:rPr>
              <a:t>Risk threshold 0.75  </a:t>
            </a:r>
            <a:r>
              <a:rPr sz="1000" b="0" i="0">
                <a:solidFill>
                  <a:srgbClr val="5B6B7B"/>
                </a:solidFill>
                <a:latin typeface="Calibri"/>
              </a:rPr>
              <a:t>· lead rule m = 2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Calibri"/>
              </a:rPr>
              <a:t>Splits  </a:t>
            </a:r>
            <a:r>
              <a:rPr sz="1000" b="0" i="0">
                <a:solidFill>
                  <a:srgbClr val="5B6B7B"/>
                </a:solidFill>
                <a:latin typeface="Calibri"/>
              </a:rPr>
              <a:t>temporal + episode-level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74320" y="2858234"/>
            <a:ext cx="11585448" cy="694944"/>
          </a:xfrm>
          <a:prstGeom prst="rect">
            <a:avLst/>
          </a:prstGeom>
          <a:solidFill>
            <a:srgbClr val="FDF3E7"/>
          </a:solidFill>
          <a:ln w="12700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1" i="0">
                <a:solidFill>
                  <a:srgbClr val="523209"/>
                </a:solidFill>
                <a:latin typeface="Calibri"/>
              </a:rPr>
              <a:t>NETWORK STATE = per host, per 30 s window, 45 named features. 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Flow-level (syn/ack ratios, bytes, duration, IAT statistics) + packet-level (TTL variance, TCP window entropy, fragmentation, retransmissions, payload distribution) + graph scalars (fan-out, port entropy, new-peer count).</a:t>
            </a:r>
          </a:p>
          <a:p>
            <a:pPr algn="l"/>
            <a:r>
              <a:rPr sz="900" b="0" i="1">
                <a:solidFill>
                  <a:srgbClr val="5B6B7B"/>
                </a:solidFill>
                <a:latin typeface="Calibri"/>
              </a:rPr>
              <a:t>Both levels are required: flow features catch a SYN flood; packet features expose the slow scan built to stay under flow thresholds.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274320" y="3626330"/>
            <a:ext cx="5806440" cy="237744"/>
          </a:xfrm>
          <a:prstGeom prst="rect">
            <a:avLst/>
          </a:prstGeom>
          <a:solidFill>
            <a:srgbClr val="EAF1F8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1D6FA5"/>
                </a:solidFill>
                <a:latin typeface="Calibri"/>
              </a:rPr>
              <a:t>TWO-STAGE TRAINING &amp; PROOF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274320" y="3864074"/>
            <a:ext cx="5806440" cy="1042415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1D6FA5"/>
                </a:solidFill>
                <a:latin typeface="Calibri"/>
              </a:rPr>
              <a:t>Stage A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self-supervised world-model pretraining on all traffic, benign included — no attack labels used at any point.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1D6FA5"/>
                </a:solidFill>
                <a:latin typeface="Calibri"/>
              </a:rPr>
              <a:t>Stage B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risk + stage heads trained on observed states with labelled timelines, then frozen. Nothing trains after this.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1D6FA5"/>
                </a:solidFill>
                <a:latin typeface="Calibri"/>
              </a:rPr>
              <a:t>Inference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encode the observed sequence, roll the latent forward K=6, decode — no real data consumed after 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1D6FA5"/>
                </a:solidFill>
                <a:latin typeface="Calibri"/>
              </a:rPr>
              <a:t>Falsification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persistence + time-shuffle ablations must collapse; Infiltration held out of training entirely.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309360" y="3626330"/>
            <a:ext cx="5550408" cy="237744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10243A"/>
                </a:solidFill>
                <a:latin typeface="Calibri"/>
              </a:rPr>
              <a:t>TECH STACK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6309360" y="3864074"/>
            <a:ext cx="5550408" cy="1042415"/>
          </a:xfrm>
          <a:prstGeom prst="rect">
            <a:avLst/>
          </a:prstGeom>
          <a:solidFill>
            <a:srgbClr val="FFFFFF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382512" y="3982946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6B7B"/>
                </a:solidFill>
                <a:latin typeface="Calibri"/>
              </a:rPr>
              <a:t>ML
DATA</a:t>
            </a:r>
          </a:p>
        </p:txBody>
      </p:sp>
      <p:pic>
        <p:nvPicPr>
          <p:cNvPr id="17424" name="Picture 17423" descr="pyto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094" y="3909794"/>
            <a:ext cx="283464" cy="283464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6967728" y="4202402"/>
            <a:ext cx="8061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B"/>
                </a:solidFill>
                <a:latin typeface="Calibri"/>
              </a:rPr>
              <a:t>PyTorch</a:t>
            </a:r>
          </a:p>
        </p:txBody>
      </p:sp>
      <p:pic>
        <p:nvPicPr>
          <p:cNvPr id="17426" name="Picture 17425" descr="scikitlear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5290" y="3909794"/>
            <a:ext cx="283464" cy="283464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7773924" y="4202402"/>
            <a:ext cx="8061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B"/>
                </a:solidFill>
                <a:latin typeface="Calibri"/>
              </a:rPr>
              <a:t>scikit-learn</a:t>
            </a:r>
          </a:p>
        </p:txBody>
      </p:sp>
      <p:pic>
        <p:nvPicPr>
          <p:cNvPr id="17428" name="Picture 17427" descr="nump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1486" y="3909794"/>
            <a:ext cx="283464" cy="28346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8580120" y="4202402"/>
            <a:ext cx="8061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B"/>
                </a:solidFill>
                <a:latin typeface="Calibri"/>
              </a:rPr>
              <a:t>NumPy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551670" y="3928082"/>
            <a:ext cx="475488" cy="23774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9525">
            <a:solidFill>
              <a:srgbClr val="5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10243A"/>
                </a:solidFill>
                <a:latin typeface="Calibri"/>
              </a:rPr>
              <a:t>SHAP</a:t>
            </a:r>
          </a:p>
        </p:txBody>
      </p:sp>
      <p:pic>
        <p:nvPicPr>
          <p:cNvPr id="17431" name="Picture 17430" descr="wiresh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3878" y="3909794"/>
            <a:ext cx="283464" cy="283464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10192512" y="4202402"/>
            <a:ext cx="8061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B"/>
                </a:solidFill>
                <a:latin typeface="Calibri"/>
              </a:rPr>
              <a:t>tshark</a:t>
            </a:r>
          </a:p>
        </p:txBody>
      </p:sp>
      <p:pic>
        <p:nvPicPr>
          <p:cNvPr id="17433" name="Picture 17432" descr="panda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60074" y="3909794"/>
            <a:ext cx="283464" cy="283464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10998708" y="4202402"/>
            <a:ext cx="8061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B"/>
                </a:solidFill>
                <a:latin typeface="Calibri"/>
              </a:rPr>
              <a:t>pandas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382512" y="4485866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6B7B"/>
                </a:solidFill>
                <a:latin typeface="Calibri"/>
              </a:rPr>
              <a:t>SERVE
WEB</a:t>
            </a:r>
          </a:p>
        </p:txBody>
      </p:sp>
      <p:pic>
        <p:nvPicPr>
          <p:cNvPr id="17436" name="Picture 17435" descr="fastap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1508" y="4412714"/>
            <a:ext cx="283464" cy="283464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6967728" y="4705322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B"/>
                </a:solidFill>
                <a:latin typeface="Calibri"/>
              </a:rPr>
              <a:t>FastAPI</a:t>
            </a:r>
          </a:p>
        </p:txBody>
      </p:sp>
      <p:pic>
        <p:nvPicPr>
          <p:cNvPr id="17438" name="Picture 17437" descr="redi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2533" y="4412714"/>
            <a:ext cx="283464" cy="283464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7658753" y="4705322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B"/>
                </a:solidFill>
                <a:latin typeface="Calibri"/>
              </a:rPr>
              <a:t>Redis</a:t>
            </a:r>
          </a:p>
        </p:txBody>
      </p:sp>
      <p:pic>
        <p:nvPicPr>
          <p:cNvPr id="17440" name="Picture 17439" descr="postgresq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53558" y="4412714"/>
            <a:ext cx="283464" cy="283464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8349778" y="4705322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B"/>
                </a:solidFill>
                <a:latin typeface="Calibri"/>
              </a:rPr>
              <a:t>PostgreSQL</a:t>
            </a:r>
          </a:p>
        </p:txBody>
      </p:sp>
      <p:pic>
        <p:nvPicPr>
          <p:cNvPr id="17442" name="Picture 17441" descr="dock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44584" y="4412714"/>
            <a:ext cx="283464" cy="283464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9040803" y="4705322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B"/>
                </a:solidFill>
                <a:latin typeface="Calibri"/>
              </a:rPr>
              <a:t>Docker</a:t>
            </a:r>
          </a:p>
        </p:txBody>
      </p:sp>
      <p:pic>
        <p:nvPicPr>
          <p:cNvPr id="17444" name="Picture 17443" descr="nextdotj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35609" y="4412714"/>
            <a:ext cx="283464" cy="283464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9731828" y="4705322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B"/>
                </a:solidFill>
                <a:latin typeface="Calibri"/>
              </a:rPr>
              <a:t>Next.js</a:t>
            </a:r>
          </a:p>
        </p:txBody>
      </p:sp>
      <p:pic>
        <p:nvPicPr>
          <p:cNvPr id="17446" name="Picture 17445" descr="typescrip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6634" y="4412714"/>
            <a:ext cx="283464" cy="283464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10422853" y="4705322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B"/>
                </a:solidFill>
                <a:latin typeface="Calibri"/>
              </a:rPr>
              <a:t>TypeScript</a:t>
            </a:r>
          </a:p>
        </p:txBody>
      </p:sp>
      <p:pic>
        <p:nvPicPr>
          <p:cNvPr id="17448" name="Picture 17447" descr="visx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17659" y="4412714"/>
            <a:ext cx="283464" cy="283464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11113878" y="4705322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B"/>
                </a:solidFill>
                <a:latin typeface="Calibri"/>
              </a:rPr>
              <a:t>visx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274320" y="4979642"/>
            <a:ext cx="11585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0243A"/>
                </a:solidFill>
                <a:latin typeface="Calibri"/>
              </a:rPr>
              <a:t>DISCOVERED BEHAVIOURAL REGIMES   </a:t>
            </a:r>
            <a:r>
              <a:rPr sz="950" b="0" i="0">
                <a:solidFill>
                  <a:srgbClr val="5B6B7B"/>
                </a:solidFill>
                <a:latin typeface="Calibri"/>
              </a:rPr>
              <a:t>k-means over the learned latent + empirical transition counts — the model is never told what an attack stage is. Values illustrative.</a:t>
            </a:r>
          </a:p>
        </p:txBody>
      </p:sp>
      <p:pic>
        <p:nvPicPr>
          <p:cNvPr id="17451" name="Picture 17450" descr="d3_regime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2570" y="5208242"/>
            <a:ext cx="10466554" cy="10279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i="0" spc="150">
                <a:solidFill>
                  <a:srgbClr val="FFFFFF"/>
                </a:solidFill>
                <a:latin typeface="Calibri"/>
              </a:rPr>
              <a:t>@Team NIDRA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nidra_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46304"/>
            <a:ext cx="1664208" cy="475488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2148840" y="4572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 i="0" spc="260">
                <a:solidFill>
                  <a:srgbClr val="10243A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148840" y="585216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B6B7B"/>
                </a:solidFill>
                <a:latin typeface="Calibri"/>
              </a:rPr>
              <a:t>Why it can be built, why it stays defensible, and how we would know if we were wrong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274320" y="896112"/>
            <a:ext cx="3502152" cy="256032"/>
          </a:xfrm>
          <a:prstGeom prst="rect">
            <a:avLst/>
          </a:prstGeom>
          <a:solidFill>
            <a:srgbClr val="EAF1F8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1D6FA5"/>
                </a:solidFill>
                <a:latin typeface="Calibri"/>
              </a:rPr>
              <a:t>FEASIBILITY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74320" y="1152144"/>
            <a:ext cx="350215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6FA5"/>
                </a:solidFill>
                <a:latin typeface="Calibri"/>
              </a:rPr>
              <a:t>Technical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public data — CIC-IDS2017 has labelled attack timelines with raw PCAP + flow CSVs. Small model: 32-d GRU latent dynamics, trains on CPU — no GPU cluster, no foundation-model dependency.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6FA5"/>
                </a:solidFill>
                <a:latin typeface="Calibri"/>
              </a:rPr>
              <a:t>Already built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FastAPI services, Redis Streams pipeline, PostgreSQL, Docker Compose — running today. Remaining work is the ML pipeline and console.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6FA5"/>
                </a:solidFill>
                <a:latin typeface="Calibri"/>
              </a:rPr>
              <a:t>Operational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passive tap or NetFlow collector — no inline failure mode. Fully offline: docker compose up, verified air-gapped.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6FA5"/>
                </a:solidFill>
                <a:latin typeface="Calibri"/>
              </a:rPr>
              <a:t>Economic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open-source stack end to end. No licensing, no cloud egress, no per-seat cost.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3913632" y="896112"/>
            <a:ext cx="3502152" cy="256032"/>
          </a:xfrm>
          <a:prstGeom prst="rect">
            <a:avLst/>
          </a:prstGeom>
          <a:solidFill>
            <a:srgbClr val="E9F5EE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3D8A63"/>
                </a:solidFill>
                <a:latin typeface="Calibri"/>
              </a:rPr>
              <a:t>VIABILITY — WHERE THE MOAT IS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913632" y="1152144"/>
            <a:ext cx="350215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3D8A63"/>
                </a:solidFill>
                <a:latin typeface="Calibri"/>
              </a:rPr>
              <a:t>The moat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labelled attack data is the scarcest, least transferable asset in security ML. NIDRA needs it only for two small frozen heads.</a:t>
            </a:r>
          </a:p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D8A63"/>
                </a:solidFill>
                <a:latin typeface="Calibri"/>
              </a:rPr>
              <a:t>The system improves by ingesting traffic, not by ingesting labels.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3D8A63"/>
                </a:solidFill>
                <a:latin typeface="Calibri"/>
              </a:rPr>
              <a:t>Deployment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at a new site it adapts by watching that network's normal — nobody labels anything. Signature and supervised vendors structurally cannot do this.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3D8A63"/>
                </a:solidFill>
                <a:latin typeface="Calibri"/>
              </a:rPr>
              <a:t>Market fit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complements the existing IDS / SIEM — adds a forecast horizon to the alert stream. CII operators need air-gapped, explainable, non-inline tooling.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74320" y="3493008"/>
            <a:ext cx="3502152" cy="256032"/>
          </a:xfrm>
          <a:prstGeom prst="rect">
            <a:avLst/>
          </a:prstGeom>
          <a:solidFill>
            <a:srgbClr val="FDF3E7"/>
          </a:solidFill>
          <a:ln w="12700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C9821F"/>
                </a:solidFill>
                <a:latin typeface="Calibri"/>
              </a:rPr>
              <a:t>TECHNICAL CHALLENGES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274320" y="3749039"/>
            <a:ext cx="35021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9821F"/>
                </a:solidFill>
                <a:latin typeface="Calibri"/>
              </a:rPr>
              <a:t>Risk: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rollout error accumulates — forecasts degrade with horizon.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9821F"/>
                </a:solidFill>
                <a:latin typeface="Calibri"/>
              </a:rPr>
              <a:t>Mitigation: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multi-step unrolled loss + scheduled sampling + ensembling. We report the horizon at which calibration fails — “reliable to 3 minutes” is credible; a 20-step forecast is not. Clamped log-variance and states keep the rollout stable.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3913632" y="3493008"/>
            <a:ext cx="3502152" cy="256032"/>
          </a:xfrm>
          <a:prstGeom prst="rect">
            <a:avLst/>
          </a:prstGeom>
          <a:solidFill>
            <a:srgbClr val="FBECF0"/>
          </a:solidFill>
          <a:ln w="12700">
            <a:solidFill>
              <a:srgbClr val="A83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A8394F"/>
                </a:solidFill>
                <a:latin typeface="Calibri"/>
              </a:rPr>
              <a:t>RESEARCH / VALIDATION CHALLENGES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3913632" y="3749039"/>
            <a:ext cx="35021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A83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A8394F"/>
                </a:solidFill>
                <a:latin typeface="Calibri"/>
              </a:rPr>
              <a:t>Risk: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the model may memorise signatures rather than learn dynamics — or add nothing over a history-aware classifier.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A8394F"/>
                </a:solidFill>
                <a:latin typeface="Calibri"/>
              </a:rPr>
              <a:t>Mitigation: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we test for both directly and report either way. Temporal + episode-level splits; random splits treated as disqualifying. If persistence matches the model, we say so and diagnose — a reported negative result survives scrutiny.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74320" y="5193792"/>
            <a:ext cx="7141464" cy="1051560"/>
          </a:xfrm>
          <a:prstGeom prst="roundRect">
            <a:avLst>
              <a:gd name="adj" fmla="val 4500"/>
            </a:avLst>
          </a:prstGeom>
          <a:solidFill>
            <a:srgbClr val="1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PROOF — evaluation designed to falsify our own claim.   </a:t>
            </a:r>
            <a:r>
              <a:rPr sz="950" b="0" i="0">
                <a:solidFill>
                  <a:srgbClr val="C9D4E0"/>
                </a:solidFill>
                <a:latin typeface="Calibri"/>
              </a:rPr>
              <a:t>Representation: reconstruction quality · Dynamics: multi-step nRMSE, persistence + time-shuffle ablations · Utility: lead time, early-warning precision, unseen-attack holdout. Baselines: mandated LR on identical features + LR on flattened history — history without dynamics, the hard one.</a:t>
            </a:r>
          </a:p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9FC2DE"/>
                </a:solidFill>
                <a:latin typeface="Calibri"/>
              </a:rPr>
              <a:t>A flat horizon curve is a leakage red flag, not a good result — smooth degradation is what honest dynamics look like.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7607808" y="1097280"/>
            <a:ext cx="4251960" cy="256032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10243A"/>
                </a:solidFill>
                <a:latin typeface="Calibri"/>
              </a:rPr>
              <a:t>TOTAL SYSTEM FLOW — SIGN-IN TO ACTION</a:t>
            </a:r>
          </a:p>
        </p:txBody>
      </p:sp>
      <p:pic>
        <p:nvPicPr>
          <p:cNvPr id="17424" name="Picture 17423" descr="d1_user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3734" y="1408176"/>
            <a:ext cx="3640107" cy="4096512"/>
          </a:xfrm>
          <a:prstGeom prst="rect">
            <a:avLst/>
          </a:prstGeom>
        </p:spPr>
      </p:pic>
      <p:sp>
        <p:nvSpPr>
          <p:cNvPr id="17425" name="Rectangle 17424"/>
          <p:cNvSpPr/>
          <p:nvPr/>
        </p:nvSpPr>
        <p:spPr>
          <a:xfrm>
            <a:off x="7607808" y="5559552"/>
            <a:ext cx="4251960" cy="621792"/>
          </a:xfrm>
          <a:prstGeom prst="rect">
            <a:avLst/>
          </a:prstGeom>
          <a:solidFill>
            <a:srgbClr val="E9F5EE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D8A63"/>
                </a:solidFill>
                <a:latin typeface="Calibri"/>
              </a:rPr>
              <a:t>REALITY OVERLAY — </a:t>
            </a:r>
            <a:r>
              <a:rPr sz="850" b="0" i="0">
                <a:solidFill>
                  <a:srgbClr val="10243A"/>
                </a:solidFill>
                <a:latin typeface="Calibri"/>
              </a:rPr>
              <a:t>the next windows arrive and land on the forecast; every prediction is scored against what actually happened. CIC-IDS2017 · ATT&amp;CK mapping · air-gapped.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i="0" spc="150">
                <a:solidFill>
                  <a:srgbClr val="FFFFFF"/>
                </a:solidFill>
                <a:latin typeface="Calibri"/>
              </a:rPr>
              <a:t>@Team NIDRA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nidra_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46304"/>
            <a:ext cx="1664208" cy="475488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2148840" y="4572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 i="0" spc="260">
                <a:solidFill>
                  <a:srgbClr val="10243A"/>
                </a:solidFill>
                <a:latin typeface="Calibri"/>
              </a:rPr>
              <a:t>IMPACT AND BENEFITS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148840" y="585216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B6B7B"/>
                </a:solidFill>
                <a:latin typeface="Calibri"/>
              </a:rPr>
              <a:t>From alert to decision — forecast, explanation, and the action that changes the trajectory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274320" y="896112"/>
            <a:ext cx="5440680" cy="256032"/>
          </a:xfrm>
          <a:prstGeom prst="rect">
            <a:avLst/>
          </a:prstGeom>
          <a:solidFill>
            <a:srgbClr val="F2EFFA"/>
          </a:solidFill>
          <a:ln w="12700">
            <a:solidFill>
              <a:srgbClr val="7A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7A68A6"/>
                </a:solidFill>
                <a:latin typeface="Calibri"/>
              </a:rPr>
              <a:t>IMPACT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74320" y="1152144"/>
            <a:ext cx="544068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7A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7A68A6"/>
                </a:solidFill>
                <a:latin typeface="Calibri"/>
              </a:rPr>
              <a:t>▸ </a:t>
            </a:r>
            <a:r>
              <a:rPr sz="950" b="1" i="0">
                <a:solidFill>
                  <a:srgbClr val="7A68A6"/>
                </a:solidFill>
                <a:latin typeface="Calibri"/>
              </a:rPr>
              <a:t>Alert → decision.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A conventional alert says something is wrong. A NIDRA forecast says what is likely next, how confident, and how long you have — investigation becomes a containment window.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7A68A6"/>
                </a:solidFill>
                <a:latin typeface="Calibri"/>
              </a:rPr>
              <a:t>▸ </a:t>
            </a:r>
            <a:r>
              <a:rPr sz="950" b="1" i="0">
                <a:solidFill>
                  <a:srgbClr val="7A68A6"/>
                </a:solidFill>
                <a:latin typeface="Calibri"/>
              </a:rPr>
              <a:t>Decision support, not autonomy.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What is likely? (forecast) → Why? (signed signals + driving window) → What changes it? (counterfactual). The priority is derived from the simulation, not a stage→action lookup table. A human decides.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7A68A6"/>
                </a:solidFill>
                <a:latin typeface="Calibri"/>
              </a:rPr>
              <a:t>▸ </a:t>
            </a:r>
            <a:r>
              <a:rPr sz="950" b="1" i="0">
                <a:solidFill>
                  <a:srgbClr val="7A68A6"/>
                </a:solidFill>
                <a:latin typeface="Calibri"/>
              </a:rPr>
              <a:t>National / CII relevance.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Air-gapped, passive, interpretable — aligned with NCIIPC guidance for protected systems.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7A68A6"/>
                </a:solidFill>
                <a:latin typeface="Calibri"/>
              </a:rPr>
              <a:t>▸ </a:t>
            </a:r>
            <a:r>
              <a:rPr sz="950" b="1" i="0">
                <a:solidFill>
                  <a:srgbClr val="7A68A6"/>
                </a:solidFill>
                <a:latin typeface="Calibri"/>
              </a:rPr>
              <a:t>Scientific contribution.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Applies the world-model paradigm — learned dynamics with imagined rollouts — to network defence, evaluated to falsify rather than support the claim.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7A68A6"/>
                </a:solidFill>
                <a:latin typeface="Calibri"/>
              </a:rPr>
              <a:t>▸ </a:t>
            </a:r>
            <a:r>
              <a:rPr sz="950" b="1" i="0">
                <a:solidFill>
                  <a:srgbClr val="7A68A6"/>
                </a:solidFill>
                <a:latin typeface="Calibri"/>
              </a:rPr>
              <a:t>Operational fit. 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Passive SPAN / NetFlow deployment, no inline failure mode; scales by adding stateless inference workers.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274320" y="3712463"/>
            <a:ext cx="5440680" cy="256032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10243A"/>
                </a:solidFill>
                <a:latin typeface="Calibri"/>
              </a:rPr>
              <a:t>TARGET OUTCOMES — design goals, to be validated on CIC-IDS2017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274320" y="3968496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0243A"/>
                </a:solidFill>
                <a:latin typeface="Calibri"/>
              </a:rPr>
              <a:t>·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median forecast lead time &gt; 60 s before labelled stage onset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0243A"/>
                </a:solidFill>
                <a:latin typeface="Calibri"/>
              </a:rPr>
              <a:t>·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persistence ablation → measurable collapse in lead time and AUC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0243A"/>
                </a:solidFill>
                <a:latin typeface="Calibri"/>
              </a:rPr>
              <a:t>·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unseen-attack holdout → risk rises before Infiltration onset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0243A"/>
                </a:solidFill>
                <a:latin typeface="Calibri"/>
              </a:rPr>
              <a:t>·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calibration → Brier score + reliability diagram per horizon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0243A"/>
                </a:solidFill>
                <a:latin typeface="Calibri"/>
              </a:rPr>
              <a:t>·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state forecast nRMSE per horizon — the metric no classifier can report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74320" y="5257800"/>
            <a:ext cx="5440680" cy="987552"/>
          </a:xfrm>
          <a:prstGeom prst="rect">
            <a:avLst/>
          </a:prstGeom>
          <a:solidFill>
            <a:srgbClr val="E9F5EE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3D8A63"/>
                </a:solidFill>
                <a:latin typeface="Calibri"/>
              </a:rPr>
              <a:t>DECISION SUPPORT IN ONE LINE   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0243A"/>
                </a:solidFill>
                <a:latin typeface="Calibri"/>
              </a:rPr>
              <a:t>What is likely?</a:t>
            </a:r>
            <a:r>
              <a:rPr sz="950" b="0" i="0">
                <a:solidFill>
                  <a:srgbClr val="5B6B7B"/>
                </a:solidFill>
                <a:latin typeface="Calibri"/>
              </a:rPr>
              <a:t>  forecast   →   </a:t>
            </a:r>
            <a:r>
              <a:rPr sz="950" b="1" i="0">
                <a:solidFill>
                  <a:srgbClr val="10243A"/>
                </a:solidFill>
                <a:latin typeface="Calibri"/>
              </a:rPr>
              <a:t>Why?</a:t>
            </a:r>
            <a:r>
              <a:rPr sz="950" b="0" i="0">
                <a:solidFill>
                  <a:srgbClr val="5B6B7B"/>
                </a:solidFill>
                <a:latin typeface="Calibri"/>
              </a:rPr>
              <a:t>  SHAP + driving window   →   </a:t>
            </a:r>
            <a:r>
              <a:rPr sz="950" b="1" i="0">
                <a:solidFill>
                  <a:srgbClr val="10243A"/>
                </a:solidFill>
                <a:latin typeface="Calibri"/>
              </a:rPr>
              <a:t>What changes it?</a:t>
            </a:r>
            <a:r>
              <a:rPr sz="950" b="0" i="0">
                <a:solidFill>
                  <a:srgbClr val="5B6B7B"/>
                </a:solidFill>
                <a:latin typeface="Calibri"/>
              </a:rPr>
              <a:t>  counterfactual</a:t>
            </a:r>
          </a:p>
          <a:p>
            <a:pPr algn="l"/>
            <a:r>
              <a:rPr sz="950" b="1" i="0">
                <a:solidFill>
                  <a:srgbClr val="3D8A63"/>
                </a:solidFill>
                <a:latin typeface="Calibri"/>
              </a:rPr>
              <a:t>Predicted stage: Lateral Movement · lead time ~80 s → suggested priority: restrict east-west communication</a:t>
            </a:r>
          </a:p>
        </p:txBody>
      </p:sp>
      <p:pic>
        <p:nvPicPr>
          <p:cNvPr id="17419" name="Picture 17418" descr="counterfact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9067" y="932688"/>
            <a:ext cx="4350953" cy="3127248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6126480" y="4105655"/>
            <a:ext cx="55961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5B6B7B"/>
                </a:solidFill>
                <a:latin typeface="Calibri"/>
              </a:rPr>
              <a:t>The defender asks what happens if outbound fan-out stops growing. The model re-simulates: projected risk 0.85 → 0.31, so restricting east-west traffic is the highest-leverage action. </a:t>
            </a:r>
            <a:r>
              <a:rPr sz="900" b="1" i="0">
                <a:solidFill>
                  <a:srgbClr val="10243A"/>
                </a:solidFill>
                <a:latin typeface="Calibri"/>
              </a:rPr>
              <a:t>Model-internal what-if, not a causal claim. </a:t>
            </a:r>
            <a:r>
              <a:rPr sz="900" b="0" i="0">
                <a:solidFill>
                  <a:srgbClr val="5B6B7B"/>
                </a:solidFill>
                <a:latin typeface="Calibri"/>
              </a:rPr>
              <a:t>Values illustrative.</a:t>
            </a:r>
          </a:p>
        </p:txBody>
      </p:sp>
      <p:graphicFrame>
        <p:nvGraphicFramePr>
          <p:cNvPr id="17421" name="Table 17420"/>
          <p:cNvGraphicFramePr>
            <a:graphicFrameLocks noGrp="1"/>
          </p:cNvGraphicFramePr>
          <p:nvPr/>
        </p:nvGraphicFramePr>
        <p:xfrm>
          <a:off x="5989320" y="4681728"/>
          <a:ext cx="5870448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24128"/>
                <a:gridCol w="1024128"/>
                <a:gridCol w="804672"/>
              </a:tblGrid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T="9144" marB="9144" marL="54864" marR="18288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Signature IDS</a:t>
                      </a:r>
                    </a:p>
                  </a:txBody>
                  <a:tcPr marT="9144" marB="9144" marL="54864" marR="18288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ML / Anomaly NDR</a:t>
                      </a:r>
                    </a:p>
                  </a:txBody>
                  <a:tcPr marT="9144" marB="9144" marL="54864" marR="18288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NIDRA</a:t>
                      </a:r>
                    </a:p>
                  </a:txBody>
                  <a:tcPr marT="9144" marB="9144" marL="54864" marR="18288">
                    <a:solidFill>
                      <a:srgbClr val="10243A"/>
                    </a:solidFill>
                  </a:tcPr>
                </a:tc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0243A"/>
                          </a:solidFill>
                          <a:latin typeface="Calibri"/>
                        </a:rPr>
                        <a:t>Detects novel behaviour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0243A"/>
                          </a:solidFill>
                          <a:latin typeface="Calibri"/>
                        </a:rPr>
                        <a:t>Models temporal sequence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C9821F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0243A"/>
                          </a:solidFill>
                          <a:latin typeface="Calibri"/>
                        </a:rPr>
                        <a:t>Generates unobserved future states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0243A"/>
                          </a:solidFill>
                          <a:latin typeface="Calibri"/>
                        </a:rPr>
                        <a:t>Forecast with horizon + confidence band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0243A"/>
                          </a:solidFill>
                          <a:latin typeface="Calibri"/>
                        </a:rPr>
                        <a:t>Counterfactual “what if” simulation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</a:tr>
              <a:tr h="198558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0243A"/>
                          </a:solidFill>
                          <a:latin typeface="Calibri"/>
                        </a:rPr>
                        <a:t>Learns without labelled attacks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C9821F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7422" name="TextBox 17421"/>
          <p:cNvSpPr txBox="1"/>
          <p:nvPr/>
        </p:nvSpPr>
        <p:spPr>
          <a:xfrm>
            <a:off x="5989320" y="6089904"/>
            <a:ext cx="587044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B6B7B"/>
                </a:solidFill>
                <a:latin typeface="Calibri"/>
              </a:rPr>
              <a:t>Bold rows: what nothing else in the table can do.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i="0" spc="150">
                <a:solidFill>
                  <a:srgbClr val="FFFFFF"/>
                </a:solidFill>
                <a:latin typeface="Calibri"/>
              </a:rPr>
              <a:t>@Team NIDRA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nidra_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46304"/>
            <a:ext cx="1664208" cy="475488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2148840" y="4572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 i="0" spc="260">
                <a:solidFill>
                  <a:srgbClr val="10243A"/>
                </a:solidFill>
                <a:latin typeface="Calibri"/>
              </a:rPr>
              <a:t>RESEARCH AND REFERENCES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148840" y="585216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B6B7B"/>
                </a:solidFill>
                <a:latin typeface="Calibri"/>
              </a:rPr>
              <a:t>What we build on, what already exists, and what we are careful not to claim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274320" y="896112"/>
            <a:ext cx="5806440" cy="256032"/>
          </a:xfrm>
          <a:prstGeom prst="rect">
            <a:avLst/>
          </a:prstGeom>
          <a:solidFill>
            <a:srgbClr val="EAF1F8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1D6FA5"/>
                </a:solidFill>
                <a:latin typeface="Calibri"/>
              </a:rPr>
              <a:t>FOUNDATIONAL RESEARCH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74320" y="1152144"/>
            <a:ext cx="58064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6FA5"/>
                </a:solidFill>
                <a:latin typeface="Calibri"/>
              </a:rPr>
              <a:t>World Models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— Ha &amp; Schmidhuber (2018). arXiv:1803.10122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6FA5"/>
                </a:solidFill>
                <a:latin typeface="Calibri"/>
              </a:rPr>
              <a:t>Latent dynamics &amp; imagined rollouts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— Hafner et al., Dream to Control (arXiv:1912.01603); Mastering Atari with Discrete World Models (arXiv:2010.02193)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6FA5"/>
                </a:solidFill>
                <a:latin typeface="Calibri"/>
              </a:rPr>
              <a:t>Recurrent state-space models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— Hafner et al., PlaNet (arXiv:1811.04551)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6FA5"/>
                </a:solidFill>
                <a:latin typeface="Calibri"/>
              </a:rPr>
              <a:t>Sequence-model alternatives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— S4 / Mamba structured state-space models, carried as reported ablation axes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6309360" y="896112"/>
            <a:ext cx="5550408" cy="256032"/>
          </a:xfrm>
          <a:prstGeom prst="rect">
            <a:avLst/>
          </a:prstGeom>
          <a:solidFill>
            <a:srgbClr val="E9F5EE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3D8A63"/>
                </a:solidFill>
                <a:latin typeface="Calibri"/>
              </a:rPr>
              <a:t>DATA &amp; KNOWLEDGE BASES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6309360" y="1152144"/>
            <a:ext cx="555040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3D8A63"/>
                </a:solidFill>
                <a:latin typeface="Calibri"/>
              </a:rPr>
              <a:t>CIC-IDS2017 / CSE-CIC-IDS2018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— Canadian Institute for Cybersecurity; labelled attack timelines with raw PCAP + flow CSVs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3D8A63"/>
                </a:solidFill>
                <a:latin typeface="Calibri"/>
              </a:rPr>
              <a:t>UNSW-NB15 · CTU-13 · CICIoT2023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— cross-dataset generalisation evaluation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3D8A63"/>
                </a:solidFill>
                <a:latin typeface="Calibri"/>
              </a:rPr>
              <a:t>MITRE ATT&amp;CK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— tactic taxonomy used for stage presentation over dataset labels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3D8A63"/>
                </a:solidFill>
                <a:latin typeface="Calibri"/>
              </a:rPr>
              <a:t>NIST SP 800-94 · NCIIPC 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— IDS/IPS guidance · guidelines for protected systems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74320" y="2706624"/>
            <a:ext cx="11585448" cy="256032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10243A"/>
                </a:solidFill>
                <a:latin typeface="Calibri"/>
              </a:rPr>
              <a:t>HOW NIDRA DIFFERS FROM WHAT EXISTS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274320" y="2962656"/>
            <a:ext cx="11585448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A8394F"/>
                </a:solidFill>
                <a:latin typeface="Calibri"/>
              </a:rPr>
              <a:t>Snort / Suricata / Zeek  </a:t>
            </a:r>
            <a:r>
              <a:rPr sz="1000" b="0" i="0">
                <a:solidFill>
                  <a:srgbClr val="5B6B7B"/>
                </a:solidFill>
                <a:latin typeface="Calibri"/>
              </a:rPr>
              <a:t>signature and rule matching  →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no forecast; blind to novel behaviour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A8394F"/>
                </a:solidFill>
                <a:latin typeface="Calibri"/>
              </a:rPr>
              <a:t>Darktrace / Vectra / ExtraHop  </a:t>
            </a:r>
            <a:r>
              <a:rPr sz="1000" b="0" i="0">
                <a:solidFill>
                  <a:srgbClr val="5B6B7B"/>
                </a:solidFill>
                <a:latin typeface="Calibri"/>
              </a:rPr>
              <a:t>behavioural anomaly scoring  →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scores the present; does not simulate futures or support what-if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A8394F"/>
                </a:solidFill>
                <a:latin typeface="Calibri"/>
              </a:rPr>
              <a:t>Academic LSTM-IDS  </a:t>
            </a:r>
            <a:r>
              <a:rPr sz="1000" b="0" i="0">
                <a:solidFill>
                  <a:srgbClr val="5B6B7B"/>
                </a:solidFill>
                <a:latin typeface="Calibri"/>
              </a:rPr>
              <a:t>sequence → label classification  →  </a:t>
            </a:r>
            <a:r>
              <a:rPr sz="1000" b="0" i="0">
                <a:solidFill>
                  <a:srgbClr val="10243A"/>
                </a:solidFill>
                <a:latin typeface="Calibri"/>
              </a:rPr>
              <a:t>a sequence classifier, not a dynamics model — cannot produce a state it never observed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274320" y="3968496"/>
            <a:ext cx="7223760" cy="256032"/>
          </a:xfrm>
          <a:prstGeom prst="rect">
            <a:avLst/>
          </a:prstGeom>
          <a:solidFill>
            <a:srgbClr val="FDF3E7"/>
          </a:solidFill>
          <a:ln w="12700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C9821F"/>
                </a:solidFill>
                <a:latin typeface="Calibri"/>
              </a:rPr>
              <a:t>SCIENTIFIC POSITION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274320" y="4224528"/>
            <a:ext cx="7223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10243A"/>
                </a:solidFill>
                <a:latin typeface="Calibri"/>
              </a:rPr>
              <a:t>NIDRA is a learned temporal world model, not a causal model of attacker intent. </a:t>
            </a:r>
            <a:r>
              <a:rPr sz="950" b="0" i="0">
                <a:solidFill>
                  <a:srgbClr val="10243A"/>
                </a:solidFill>
                <a:latin typeface="Calibri"/>
              </a:rPr>
              <a:t>We have correlation, temporal prediction and learned dynamics — all legitimate and non-trivial. We do not have causal inference: that requires intervention under an explicit causal graph, and our data is observational. Counterfactual rollouts are model-internal what-ifs, labelled as such in the interface.</a:t>
            </a:r>
          </a:p>
          <a:p>
            <a:pPr algn="l">
              <a:lnSpc>
                <a:spcPct val="102000"/>
              </a:lnSpc>
            </a:pPr>
            <a:r>
              <a:rPr sz="950" b="0" i="1">
                <a:solidFill>
                  <a:srgbClr val="5B6B7B"/>
                </a:solidFill>
                <a:latin typeface="Calibri"/>
              </a:rPr>
              <a:t>Forecast reliability degrades past roughly three minutes; we report the horizon at which calibration fails rather than hiding it. The persistence ablation can fail — if it does, we report and diagnose.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7680960" y="3968496"/>
            <a:ext cx="4178808" cy="256032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 i="0">
                <a:solidFill>
                  <a:srgbClr val="10243A"/>
                </a:solidFill>
                <a:latin typeface="Calibri"/>
              </a:rPr>
              <a:t>PROJECT RESOURCES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7680960" y="4224528"/>
            <a:ext cx="417880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0243A"/>
                </a:solidFill>
                <a:latin typeface="Calibri"/>
              </a:rPr>
              <a:t>Repository :  </a:t>
            </a:r>
            <a:r>
              <a:rPr sz="950" b="0" i="0">
                <a:solidFill>
                  <a:srgbClr val="1D6FA5"/>
                </a:solidFill>
                <a:latin typeface="Calibri"/>
              </a:rPr>
              <a:t>github.com/clustercoder/nidra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0243A"/>
                </a:solidFill>
                <a:latin typeface="Calibri"/>
              </a:rPr>
              <a:t>PRD / architecture :  </a:t>
            </a:r>
            <a:r>
              <a:rPr sz="950" b="0" i="0">
                <a:solidFill>
                  <a:srgbClr val="1D6FA5"/>
                </a:solidFill>
                <a:latin typeface="Calibri"/>
              </a:rPr>
              <a:t>docs/ in repository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0243A"/>
                </a:solidFill>
                <a:latin typeface="Calibri"/>
              </a:rPr>
              <a:t>Decision log :  </a:t>
            </a:r>
            <a:r>
              <a:rPr sz="950" b="0" i="0">
                <a:solidFill>
                  <a:srgbClr val="1D6FA5"/>
                </a:solidFill>
                <a:latin typeface="Calibri"/>
              </a:rPr>
              <a:t>DECISIONS.md — dated design decisions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0243A"/>
                </a:solidFill>
                <a:latin typeface="Calibri"/>
              </a:rPr>
              <a:t>Demo video :  </a:t>
            </a:r>
            <a:r>
              <a:rPr sz="950" b="0" i="0">
                <a:solidFill>
                  <a:srgbClr val="1D6FA5"/>
                </a:solidFill>
                <a:latin typeface="Calibri"/>
              </a:rPr>
              <a:t>&lt;link&gt;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0243A"/>
                </a:solidFill>
                <a:latin typeface="Calibri"/>
              </a:rPr>
              <a:t>Prototype console :  </a:t>
            </a:r>
            <a:r>
              <a:rPr sz="950" b="0" i="0">
                <a:solidFill>
                  <a:srgbClr val="1D6FA5"/>
                </a:solidFill>
                <a:latin typeface="Calibri"/>
              </a:rPr>
              <a:t>&lt;link&gt;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274320" y="5504688"/>
            <a:ext cx="11585448" cy="713232"/>
          </a:xfrm>
          <a:prstGeom prst="roundRect">
            <a:avLst>
              <a:gd name="adj" fmla="val 4500"/>
            </a:avLst>
          </a:prstGeom>
          <a:solidFill>
            <a:srgbClr val="1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CORE RESEARCH QUESTION   </a:t>
            </a:r>
            <a:r>
              <a:rPr sz="1050" b="0" i="0">
                <a:solidFill>
                  <a:srgbClr val="C9D4E0"/>
                </a:solidFill>
                <a:latin typeface="Calibri"/>
              </a:rPr>
              <a:t>Can a world model trained on known attack trajectories forecast the progression of an </a:t>
            </a:r>
            <a:r>
              <a:rPr sz="1050" b="1" i="0">
                <a:solidFill>
                  <a:srgbClr val="FFFFFF"/>
                </a:solidFill>
                <a:latin typeface="Calibri"/>
              </a:rPr>
              <a:t>unseen attack class</a:t>
            </a:r>
            <a:r>
              <a:rPr sz="1050" b="0" i="0">
                <a:solidFill>
                  <a:srgbClr val="C9D4E0"/>
                </a:solidFill>
                <a:latin typeface="Calibri"/>
              </a:rPr>
              <a:t> from its behavioural dynamics rather than memorised signatures?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