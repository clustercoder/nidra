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://nidra.muaazshaikh.com/" TargetMode="External"/><Relationship Id="rId6" Type="http://schemas.openxmlformats.org/officeDocument/2006/relationships/hyperlink" Target="https://drive.google.com/drive/folders/1lRbftwqcnWhxeIpuILC_y1-YxUtEdBvk?usp=sharing" TargetMode="External"/><Relationship Id="rId7" Type="http://schemas.openxmlformats.org/officeDocument/2006/relationships/hyperlink" Target="https://github.com/clustercoder/nidra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84048" y="1993392"/>
            <a:ext cx="57607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600" b="1" i="0">
                <a:solidFill>
                  <a:srgbClr val="10243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0243A"/>
                </a:solidFill>
                <a:latin typeface="Calibri"/>
              </a:rPr>
              <a:t>Problem Statement ID : </a:t>
            </a:r>
            <a:r>
              <a:rPr sz="1600" b="1" i="0">
                <a:solidFill>
                  <a:srgbClr val="1D6FA5"/>
                </a:solidFill>
                <a:latin typeface="Calibri"/>
              </a:rPr>
              <a:t>26153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600" b="1" i="0">
                <a:solidFill>
                  <a:srgbClr val="10243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0243A"/>
                </a:solidFill>
                <a:latin typeface="Calibri"/>
              </a:rPr>
              <a:t>Problem Statement Title : </a:t>
            </a:r>
            <a:r>
              <a:rPr sz="1600" b="1" i="0">
                <a:solidFill>
                  <a:srgbClr val="3D8A63"/>
                </a:solidFill>
                <a:latin typeface="Calibri"/>
              </a:rPr>
              <a:t>AI based Network Attack Forecasting from Network Traffic Data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600" b="1" i="0">
                <a:solidFill>
                  <a:srgbClr val="10243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0243A"/>
                </a:solidFill>
                <a:latin typeface="Calibri"/>
              </a:rPr>
              <a:t>Theme : </a:t>
            </a:r>
            <a:r>
              <a:rPr sz="1600" b="1" i="0">
                <a:solidFill>
                  <a:srgbClr val="1D6FA5"/>
                </a:solidFill>
                <a:latin typeface="Calibri"/>
              </a:rPr>
              <a:t>Blockchain &amp; Cybersecurity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600" b="1" i="0">
                <a:solidFill>
                  <a:srgbClr val="10243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0243A"/>
                </a:solidFill>
                <a:latin typeface="Calibri"/>
              </a:rPr>
              <a:t>PS Category : </a:t>
            </a:r>
            <a:r>
              <a:rPr sz="1600" b="1" i="0">
                <a:solidFill>
                  <a:srgbClr val="1D6FA5"/>
                </a:solidFill>
                <a:latin typeface="Calibri"/>
              </a:rPr>
              <a:t>Software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600" b="1" i="0">
                <a:solidFill>
                  <a:srgbClr val="10243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0243A"/>
                </a:solidFill>
                <a:latin typeface="Calibri"/>
              </a:rPr>
              <a:t>Team ID : </a:t>
            </a:r>
            <a:r>
              <a:rPr sz="1600" b="1" i="0">
                <a:solidFill>
                  <a:srgbClr val="1D6FA5"/>
                </a:solidFill>
                <a:latin typeface="Calibri"/>
              </a:rPr>
              <a:t>&lt;Team ID&gt;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600" b="1" i="0">
                <a:solidFill>
                  <a:srgbClr val="10243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0243A"/>
                </a:solidFill>
                <a:latin typeface="Calibri"/>
              </a:rPr>
              <a:t>Team Name : </a:t>
            </a:r>
            <a:r>
              <a:rPr sz="1600" b="1" i="0">
                <a:solidFill>
                  <a:srgbClr val="3D8A63"/>
                </a:solidFill>
                <a:latin typeface="Calibri"/>
              </a:rPr>
              <a:t>Pied Piper</a:t>
            </a:r>
          </a:p>
        </p:txBody>
      </p:sp>
      <p:pic>
        <p:nvPicPr>
          <p:cNvPr id="39" name="Picture 38" descr="nidra_logo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170432"/>
            <a:ext cx="2240279" cy="640080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384048" y="5138928"/>
            <a:ext cx="5577840" cy="1115568"/>
          </a:xfrm>
          <a:prstGeom prst="roundRect">
            <a:avLst>
              <a:gd name="adj" fmla="val 4500"/>
            </a:avLst>
          </a:prstGeom>
          <a:solidFill>
            <a:srgbClr val="1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spcAft>
                <a:spcPts val="400"/>
              </a:spcAft>
            </a:pPr>
            <a:r>
              <a:rPr sz="2200" b="1" i="0" spc="300">
                <a:solidFill>
                  <a:srgbClr val="FFFFFF"/>
                </a:solidFill>
                <a:latin typeface="Calibri"/>
              </a:rPr>
              <a:t>N I D R A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C9D4E0"/>
                </a:solidFill>
                <a:latin typeface="Calibri"/>
              </a:rPr>
              <a:t>Network Intrusion Dynamics &amp; Risk Anticipation — a network world model that forecasts attack trajectories before compromise completes.</a:t>
            </a:r>
          </a:p>
          <a:p>
            <a:pPr algn="l">
              <a:spcBef>
                <a:spcPts val="500"/>
              </a:spcBef>
            </a:pPr>
            <a:r>
              <a:rPr sz="1050" b="1" i="0" spc="120">
                <a:solidFill>
                  <a:srgbClr val="9FC2DE"/>
                </a:solidFill>
                <a:latin typeface="Calibri"/>
              </a:rPr>
              <a:t>OBSERVE  →  REPRESENT  →  LEARN DYNAMICS  →  IMAGINE  →  FORECAST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/>
            </a:pPr>
            <a:r>
              <a:rPr sz="1200" b="1" i="0" spc="150">
                <a:solidFill>
                  <a:srgbClr val="FFFFFF"/>
                </a:solidFill>
                <a:latin typeface="Calibri"/>
              </a:rPr>
              <a:t>@Pied Piper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nidra_logo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146304"/>
            <a:ext cx="1664208" cy="475488"/>
          </a:xfrm>
          <a:prstGeom prst="rect">
            <a:avLst/>
          </a:prstGeom>
        </p:spPr>
      </p:pic>
      <p:sp>
        <p:nvSpPr>
          <p:cNvPr id="15364" name="TextBox 15363"/>
          <p:cNvSpPr txBox="1"/>
          <p:nvPr/>
        </p:nvSpPr>
        <p:spPr>
          <a:xfrm>
            <a:off x="2148840" y="18288"/>
            <a:ext cx="758952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100" b="1" i="0" spc="240">
                <a:solidFill>
                  <a:srgbClr val="10243A"/>
                </a:solidFill>
                <a:latin typeface="Calibri"/>
              </a:rPr>
              <a:t>NIDRA — PROPOSED SOLUTION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1737360" y="60350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B6B7B"/>
                </a:solidFill>
                <a:latin typeface="Calibri"/>
              </a:rPr>
              <a:t>Network Intrusion Dynamics &amp; Risk Anticipation · a world model that forecasts attack trajectories — not an intrusion detector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10332720" y="905256"/>
            <a:ext cx="1527048" cy="256032"/>
          </a:xfrm>
          <a:prstGeom prst="roundRect">
            <a:avLst>
              <a:gd name="adj" fmla="val 4500"/>
            </a:avLst>
          </a:prstGeom>
          <a:solidFill>
            <a:srgbClr val="FDF3E7"/>
          </a:solidFill>
          <a:ln w="9525">
            <a:solidFill>
              <a:srgbClr val="C98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50" b="1" i="0">
                <a:solidFill>
                  <a:srgbClr val="C9821F"/>
                </a:solidFill>
                <a:latin typeface="Calibri"/>
              </a:rPr>
              <a:t>★ = innovation</a:t>
            </a:r>
          </a:p>
        </p:txBody>
      </p:sp>
      <p:pic>
        <p:nvPicPr>
          <p:cNvPr id="15367" name="Picture 15366" descr="he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170432"/>
            <a:ext cx="6492240" cy="3010038"/>
          </a:xfrm>
          <a:prstGeom prst="rect">
            <a:avLst/>
          </a:prstGeom>
        </p:spPr>
      </p:pic>
      <p:sp>
        <p:nvSpPr>
          <p:cNvPr id="15368" name="TextBox 15367"/>
          <p:cNvSpPr txBox="1"/>
          <p:nvPr/>
        </p:nvSpPr>
        <p:spPr>
          <a:xfrm>
            <a:off x="274320" y="4217046"/>
            <a:ext cx="6492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5B6B7B"/>
                </a:solidFill>
                <a:latin typeface="Calibri"/>
              </a:rPr>
              <a:t>Everything right of NOW is simulated — states the model generated, scored by a frozen classifier that never saw them. </a:t>
            </a:r>
            <a:r>
              <a:rPr sz="1050" b="1" i="0">
                <a:solidFill>
                  <a:srgbClr val="10243A"/>
                </a:solidFill>
                <a:latin typeface="Calibri"/>
              </a:rPr>
              <a:t>90 seconds of warning. </a:t>
            </a:r>
            <a:r>
              <a:rPr sz="1050" b="0" i="0">
                <a:solidFill>
                  <a:srgbClr val="5B6B7B"/>
                </a:solidFill>
                <a:latin typeface="Calibri"/>
              </a:rPr>
              <a:t>✕ = what actually happened. Values illustrative of the demo scenario.</a:t>
            </a:r>
          </a:p>
        </p:txBody>
      </p:sp>
      <p:sp>
        <p:nvSpPr>
          <p:cNvPr id="15369" name="Rectangle 15368"/>
          <p:cNvSpPr/>
          <p:nvPr/>
        </p:nvSpPr>
        <p:spPr>
          <a:xfrm>
            <a:off x="7223760" y="1170432"/>
            <a:ext cx="4636008" cy="310896"/>
          </a:xfrm>
          <a:prstGeom prst="rect">
            <a:avLst/>
          </a:prstGeom>
          <a:solidFill>
            <a:srgbClr val="FBECF0"/>
          </a:solidFill>
          <a:ln w="12700">
            <a:solidFill>
              <a:srgbClr val="A839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 i="0">
                <a:solidFill>
                  <a:srgbClr val="A8394F"/>
                </a:solidFill>
                <a:latin typeface="Calibri"/>
              </a:rPr>
              <a:t>THE PROBLEM WITH DETECTION</a:t>
            </a:r>
          </a:p>
        </p:txBody>
      </p:sp>
      <p:sp>
        <p:nvSpPr>
          <p:cNvPr id="15370" name="Rectangle 15369"/>
          <p:cNvSpPr/>
          <p:nvPr/>
        </p:nvSpPr>
        <p:spPr>
          <a:xfrm>
            <a:off x="7223760" y="1481328"/>
            <a:ext cx="463600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39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A8394F"/>
                </a:solidFill>
                <a:latin typeface="Calibri"/>
              </a:rPr>
              <a:t>▸ </a:t>
            </a:r>
            <a:r>
              <a:rPr sz="1200" b="1" i="0">
                <a:solidFill>
                  <a:srgbClr val="A8394F"/>
                </a:solidFill>
                <a:latin typeface="Calibri"/>
              </a:rPr>
              <a:t>Detection is always late.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An IDS computes f(traffic) → benign / malicious. It fires once evidence exists — the behaviour already happened.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A8394F"/>
                </a:solidFill>
                <a:latin typeface="Calibri"/>
              </a:rPr>
              <a:t>▸ </a:t>
            </a:r>
            <a:r>
              <a:rPr sz="1200" b="1" i="0">
                <a:solidFill>
                  <a:srgbClr val="A8394F"/>
                </a:solidFill>
                <a:latin typeface="Calibri"/>
              </a:rPr>
              <a:t>Attacks are processes, not packets.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Recon → scan → access → lateral → exfil unfolds over minutes; per-flow classifiers discard that structure.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A8394F"/>
                </a:solidFill>
                <a:latin typeface="Calibri"/>
              </a:rPr>
              <a:t>▸ </a:t>
            </a:r>
            <a:r>
              <a:rPr sz="1200" b="1" i="0">
                <a:solidFill>
                  <a:srgbClr val="A8394F"/>
                </a:solidFill>
                <a:latin typeface="Calibri"/>
              </a:rPr>
              <a:t>Labels are the bottleneck.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Supervised IDS needs labelled attacks — expensive, stale, non-transferable.</a:t>
            </a:r>
          </a:p>
        </p:txBody>
      </p:sp>
      <p:sp>
        <p:nvSpPr>
          <p:cNvPr id="15371" name="Rectangle 15370"/>
          <p:cNvSpPr/>
          <p:nvPr/>
        </p:nvSpPr>
        <p:spPr>
          <a:xfrm>
            <a:off x="7223760" y="3145536"/>
            <a:ext cx="4636008" cy="310896"/>
          </a:xfrm>
          <a:prstGeom prst="rect">
            <a:avLst/>
          </a:prstGeom>
          <a:solidFill>
            <a:srgbClr val="F4F6F8"/>
          </a:solidFill>
          <a:ln w="12700">
            <a:solidFill>
              <a:srgbClr val="10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 i="0">
                <a:solidFill>
                  <a:srgbClr val="10243A"/>
                </a:solidFill>
                <a:latin typeface="Calibri"/>
              </a:rPr>
              <a:t>WHAT NIDRA PREDICTS — THREE LEVELS</a:t>
            </a:r>
          </a:p>
        </p:txBody>
      </p:sp>
      <p:sp>
        <p:nvSpPr>
          <p:cNvPr id="15372" name="Rectangle 15371"/>
          <p:cNvSpPr/>
          <p:nvPr/>
        </p:nvSpPr>
        <p:spPr>
          <a:xfrm>
            <a:off x="7223760" y="3456432"/>
            <a:ext cx="463600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10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D6FA5"/>
                </a:solidFill>
                <a:latin typeface="Calibri"/>
              </a:rPr>
              <a:t>1 · STATE 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what comes next?  </a:t>
            </a:r>
            <a:r>
              <a:rPr sz="1200" b="1" i="0">
                <a:solidFill>
                  <a:srgbClr val="10243A"/>
                </a:solidFill>
                <a:latin typeface="Calibri"/>
              </a:rPr>
              <a:t>Ŝ t+1 … Ŝ t+6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7A68A6"/>
                </a:solidFill>
                <a:latin typeface="Calibri"/>
              </a:rPr>
              <a:t>2 · THREAT 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how likely is compromise?  </a:t>
            </a:r>
            <a:r>
              <a:rPr sz="1200" b="1" i="0">
                <a:solidFill>
                  <a:srgbClr val="10243A"/>
                </a:solidFill>
                <a:latin typeface="Calibri"/>
              </a:rPr>
              <a:t>P(compromise) + 90% band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C9821F"/>
                </a:solidFill>
                <a:latin typeface="Calibri"/>
              </a:rPr>
              <a:t>3 · PROGRESSION 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which stage?  </a:t>
            </a:r>
            <a:r>
              <a:rPr sz="1200" b="1" i="0">
                <a:solidFill>
                  <a:srgbClr val="10243A"/>
                </a:solidFill>
                <a:latin typeface="Calibri"/>
              </a:rPr>
              <a:t>P(stage | Ŝ), ATT&amp;CK tactic</a:t>
            </a:r>
          </a:p>
          <a:p>
            <a:pPr algn="l">
              <a:lnSpc>
                <a:spcPct val="102000"/>
              </a:lnSpc>
              <a:spcBef>
                <a:spcPts val="200"/>
              </a:spcBef>
            </a:pPr>
            <a:r>
              <a:rPr sz="1050" b="0" i="1">
                <a:solidFill>
                  <a:srgbClr val="5B6B7B"/>
                </a:solidFill>
                <a:latin typeface="Calibri"/>
              </a:rPr>
              <a:t>All three derive from one simulated trajectory — “312 of 1000 futures reach Lateral Movement”, not a point estimate.</a:t>
            </a:r>
          </a:p>
        </p:txBody>
      </p:sp>
      <p:sp>
        <p:nvSpPr>
          <p:cNvPr id="15373" name="Rectangle 15372"/>
          <p:cNvSpPr/>
          <p:nvPr/>
        </p:nvSpPr>
        <p:spPr>
          <a:xfrm>
            <a:off x="274320" y="4590288"/>
            <a:ext cx="5806440" cy="310896"/>
          </a:xfrm>
          <a:prstGeom prst="rect">
            <a:avLst/>
          </a:prstGeom>
          <a:solidFill>
            <a:srgbClr val="F2EFFA"/>
          </a:solidFill>
          <a:ln w="12700">
            <a:solidFill>
              <a:srgbClr val="7A6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 i="0">
                <a:solidFill>
                  <a:srgbClr val="7A68A6"/>
                </a:solidFill>
                <a:latin typeface="Calibri"/>
              </a:rPr>
              <a:t>PROPOSED SOLUTION</a:t>
            </a:r>
          </a:p>
        </p:txBody>
      </p:sp>
      <p:sp>
        <p:nvSpPr>
          <p:cNvPr id="15374" name="Rectangle 15373"/>
          <p:cNvSpPr/>
          <p:nvPr/>
        </p:nvSpPr>
        <p:spPr>
          <a:xfrm>
            <a:off x="274320" y="4901183"/>
            <a:ext cx="5806440" cy="1344168"/>
          </a:xfrm>
          <a:prstGeom prst="rect">
            <a:avLst/>
          </a:prstGeom>
          <a:solidFill>
            <a:srgbClr val="FFFFFF"/>
          </a:solidFill>
          <a:ln w="12700">
            <a:solidFill>
              <a:srgbClr val="7A6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 i="0">
                <a:solidFill>
                  <a:srgbClr val="7A68A6"/>
                </a:solidFill>
                <a:latin typeface="Calibri"/>
              </a:rPr>
              <a:t>▸ </a:t>
            </a:r>
            <a:r>
              <a:rPr sz="1200" b="1" i="0">
                <a:solidFill>
                  <a:srgbClr val="7A68A6"/>
                </a:solidFill>
                <a:latin typeface="Calibri"/>
              </a:rPr>
              <a:t>Learn dynamics, not a boundary.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NIDRA learns P(S t+1 | h t) — how behaviour evolves.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9821F"/>
                </a:solidFill>
                <a:latin typeface="Calibri"/>
              </a:rPr>
              <a:t>★ </a:t>
            </a:r>
            <a:r>
              <a:rPr sz="1200" b="1" i="0">
                <a:solidFill>
                  <a:srgbClr val="10243A"/>
                </a:solidFill>
                <a:latin typeface="Calibri"/>
              </a:rPr>
              <a:t>Simulates futures it never observed.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Recursive K-step rollout generates the next 6 windows — no real data after NOW.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9821F"/>
                </a:solidFill>
                <a:latin typeface="Calibri"/>
              </a:rPr>
              <a:t>★ </a:t>
            </a:r>
            <a:r>
              <a:rPr sz="1200" b="1" i="0">
                <a:solidFill>
                  <a:srgbClr val="10243A"/>
                </a:solidFill>
                <a:latin typeface="Calibri"/>
              </a:rPr>
              <a:t>Frozen heads.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Risk &amp; stage classifiers train on observed states, then freeze — warning comes from the dynamics.</a:t>
            </a:r>
          </a:p>
        </p:txBody>
      </p:sp>
      <p:sp>
        <p:nvSpPr>
          <p:cNvPr id="15375" name="Rectangle 15374"/>
          <p:cNvSpPr/>
          <p:nvPr/>
        </p:nvSpPr>
        <p:spPr>
          <a:xfrm>
            <a:off x="6309360" y="4590288"/>
            <a:ext cx="5550408" cy="310896"/>
          </a:xfrm>
          <a:prstGeom prst="rect">
            <a:avLst/>
          </a:prstGeom>
          <a:solidFill>
            <a:srgbClr val="E9F5EE"/>
          </a:solidFill>
          <a:ln w="12700">
            <a:solidFill>
              <a:srgbClr val="3D8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 i="0">
                <a:solidFill>
                  <a:srgbClr val="3D8A63"/>
                </a:solidFill>
                <a:latin typeface="Calibri"/>
              </a:rPr>
              <a:t>UVP — UNIQUE VALUE PROPOSITION</a:t>
            </a:r>
          </a:p>
        </p:txBody>
      </p:sp>
      <p:sp>
        <p:nvSpPr>
          <p:cNvPr id="15376" name="Rectangle 15375"/>
          <p:cNvSpPr/>
          <p:nvPr/>
        </p:nvSpPr>
        <p:spPr>
          <a:xfrm>
            <a:off x="6309360" y="4901183"/>
            <a:ext cx="5550408" cy="1344168"/>
          </a:xfrm>
          <a:prstGeom prst="rect">
            <a:avLst/>
          </a:prstGeom>
          <a:solidFill>
            <a:srgbClr val="FFFFFF"/>
          </a:solidFill>
          <a:ln w="12700">
            <a:solidFill>
              <a:srgbClr val="3D8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9821F"/>
                </a:solidFill>
                <a:latin typeface="Calibri"/>
              </a:rPr>
              <a:t>★ </a:t>
            </a:r>
            <a:r>
              <a:rPr sz="1200" b="1" i="0">
                <a:solidFill>
                  <a:srgbClr val="10243A"/>
                </a:solidFill>
                <a:latin typeface="Calibri"/>
              </a:rPr>
              <a:t>Forecast, not alert.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A time axis, a confidence band and a lead time in seconds — enough to act, not just investigate.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9821F"/>
                </a:solidFill>
                <a:latin typeface="Calibri"/>
              </a:rPr>
              <a:t>★ </a:t>
            </a:r>
            <a:r>
              <a:rPr sz="1200" b="1" i="0">
                <a:solidFill>
                  <a:srgbClr val="10243A"/>
                </a:solidFill>
                <a:latin typeface="Calibri"/>
              </a:rPr>
              <a:t>Counterfactual simulation.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“What if fan-out stops?” needs a reusable transition operator — no detection product we're aware of exposes one.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D8A63"/>
                </a:solidFill>
                <a:latin typeface="Calibri"/>
              </a:rPr>
              <a:t>▸ </a:t>
            </a:r>
            <a:r>
              <a:rPr sz="1200" b="1" i="0">
                <a:solidFill>
                  <a:srgbClr val="3D8A63"/>
                </a:solidFill>
                <a:latin typeface="Calibri"/>
              </a:rPr>
              <a:t>Minimises label dependence.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Pretrains self-supervised on ordinary traffic; labelled attacks are needed only for two small frozen heads.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/>
            </a:pPr>
            <a:r>
              <a:rPr sz="1200" b="1" i="0" spc="150">
                <a:solidFill>
                  <a:srgbClr val="FFFFFF"/>
                </a:solidFill>
                <a:latin typeface="Calibri"/>
              </a:rPr>
              <a:t>@Pied Piper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nidra_logo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146304"/>
            <a:ext cx="1664208" cy="475488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2148840" y="18288"/>
            <a:ext cx="758952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100" b="1" i="0" spc="240">
                <a:solidFill>
                  <a:srgbClr val="10243A"/>
                </a:solidFill>
                <a:latin typeface="Calibri"/>
              </a:rPr>
              <a:t>TECHNICAL APPROACH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1737360" y="60350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B6B7B"/>
                </a:solidFill>
                <a:latin typeface="Calibri"/>
              </a:rPr>
              <a:t>One pipeline: telemetry → named state → latent dynamics → simulated futures → three prediction levels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274320" y="896112"/>
            <a:ext cx="7315200" cy="310896"/>
          </a:xfrm>
          <a:prstGeom prst="rect">
            <a:avLst/>
          </a:prstGeom>
          <a:solidFill>
            <a:srgbClr val="F2EFFA"/>
          </a:solidFill>
          <a:ln w="12700">
            <a:solidFill>
              <a:srgbClr val="7A6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 i="0">
                <a:solidFill>
                  <a:srgbClr val="7A68A6"/>
                </a:solidFill>
                <a:latin typeface="Calibri"/>
              </a:rPr>
              <a:t>WORLD MODEL PIPELINE</a:t>
            </a:r>
          </a:p>
        </p:txBody>
      </p:sp>
      <p:pic>
        <p:nvPicPr>
          <p:cNvPr id="17415" name="Picture 17414" descr="d2_pipe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252728"/>
            <a:ext cx="7315200" cy="1502228"/>
          </a:xfrm>
          <a:prstGeom prst="rect">
            <a:avLst/>
          </a:prstGeom>
        </p:spPr>
      </p:pic>
      <p:sp>
        <p:nvSpPr>
          <p:cNvPr id="17416" name="Rectangle 17415"/>
          <p:cNvSpPr/>
          <p:nvPr/>
        </p:nvSpPr>
        <p:spPr>
          <a:xfrm>
            <a:off x="7726679" y="1097280"/>
            <a:ext cx="4133087" cy="310896"/>
          </a:xfrm>
          <a:prstGeom prst="rect">
            <a:avLst/>
          </a:prstGeom>
          <a:solidFill>
            <a:srgbClr val="F4F6F8"/>
          </a:solidFill>
          <a:ln w="12700">
            <a:solidFill>
              <a:srgbClr val="10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 i="0">
                <a:solidFill>
                  <a:srgbClr val="10243A"/>
                </a:solidFill>
                <a:latin typeface="Calibri"/>
              </a:rPr>
              <a:t>PARAMETERS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7726679" y="1408176"/>
            <a:ext cx="4133087" cy="13467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243A"/>
                </a:solidFill>
                <a:latin typeface="Calibri"/>
              </a:rPr>
              <a:t>Window Δ = 30 s  </a:t>
            </a:r>
            <a:r>
              <a:rPr sz="1200" b="0" i="0">
                <a:solidFill>
                  <a:srgbClr val="5B6B7B"/>
                </a:solidFill>
                <a:latin typeface="Calibri"/>
              </a:rPr>
              <a:t>· latent z = 32-d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243A"/>
                </a:solidFill>
                <a:latin typeface="Calibri"/>
              </a:rPr>
              <a:t>Context L = 30 windows  </a:t>
            </a:r>
            <a:r>
              <a:rPr sz="1200" b="0" i="0">
                <a:solidFill>
                  <a:srgbClr val="5B6B7B"/>
                </a:solidFill>
                <a:latin typeface="Calibri"/>
              </a:rPr>
              <a:t>(15 min history)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243A"/>
                </a:solidFill>
                <a:latin typeface="Calibri"/>
              </a:rPr>
              <a:t>Horizon K = 6  </a:t>
            </a:r>
            <a:r>
              <a:rPr sz="1200" b="0" i="0">
                <a:solidFill>
                  <a:srgbClr val="5B6B7B"/>
                </a:solidFill>
                <a:latin typeface="Calibri"/>
              </a:rPr>
              <a:t>→ 3 min forecast reach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243A"/>
                </a:solidFill>
                <a:latin typeface="Calibri"/>
              </a:rPr>
              <a:t>Dynamics  </a:t>
            </a:r>
            <a:r>
              <a:rPr sz="1200" b="0" i="0">
                <a:solidFill>
                  <a:srgbClr val="5B6B7B"/>
                </a:solidFill>
                <a:latin typeface="Calibri"/>
              </a:rPr>
              <a:t>2-layer GRU, 128 hidden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243A"/>
                </a:solidFill>
                <a:latin typeface="Calibri"/>
              </a:rPr>
              <a:t>Ensemble  </a:t>
            </a:r>
            <a:r>
              <a:rPr sz="1200" b="0" i="0">
                <a:solidFill>
                  <a:srgbClr val="5B6B7B"/>
                </a:solidFill>
                <a:latin typeface="Calibri"/>
              </a:rPr>
              <a:t>5 seeds · ~1000 trajectories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243A"/>
                </a:solidFill>
                <a:latin typeface="Calibri"/>
              </a:rPr>
              <a:t>Risk threshold 0.75  </a:t>
            </a:r>
            <a:r>
              <a:rPr sz="1200" b="0" i="0">
                <a:solidFill>
                  <a:srgbClr val="5B6B7B"/>
                </a:solidFill>
                <a:latin typeface="Calibri"/>
              </a:rPr>
              <a:t>· lead rule m = 2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274320" y="2828108"/>
            <a:ext cx="11585448" cy="640080"/>
          </a:xfrm>
          <a:prstGeom prst="rect">
            <a:avLst/>
          </a:prstGeom>
          <a:solidFill>
            <a:srgbClr val="FDF3E7"/>
          </a:solidFill>
          <a:ln w="12700">
            <a:solidFill>
              <a:srgbClr val="C98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523209"/>
                </a:solidFill>
                <a:latin typeface="Calibri"/>
              </a:rPr>
              <a:t>NETWORK STATE = per host, per 30 s window, 45 named features. 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Flow-level (syn/ack ratios, bytes, duration, IAT statistics) + packet-level (TTL variance, TCP window entropy, fragmentation, retransmissions, payload distribution) + graph scalars (fan-out, port entropy, new-peer count).</a:t>
            </a:r>
          </a:p>
          <a:p>
            <a:pPr algn="l"/>
            <a:r>
              <a:rPr sz="1050" b="0" i="1">
                <a:solidFill>
                  <a:srgbClr val="5B6B7B"/>
                </a:solidFill>
                <a:latin typeface="Calibri"/>
              </a:rPr>
              <a:t>Both levels are required: flow features catch a SYN flood; packet features expose the slow scan built to stay under flow thresholds.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274320" y="3541340"/>
            <a:ext cx="5806440" cy="310896"/>
          </a:xfrm>
          <a:prstGeom prst="rect">
            <a:avLst/>
          </a:prstGeom>
          <a:solidFill>
            <a:srgbClr val="EAF1F8"/>
          </a:solidFill>
          <a:ln w="12700">
            <a:solidFill>
              <a:srgbClr val="1D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 i="0">
                <a:solidFill>
                  <a:srgbClr val="1D6FA5"/>
                </a:solidFill>
                <a:latin typeface="Calibri"/>
              </a:rPr>
              <a:t>TWO-STAGE TRAINING &amp; PROOF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274320" y="3852236"/>
            <a:ext cx="5806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D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00" b="1" i="0">
                <a:solidFill>
                  <a:srgbClr val="1D6FA5"/>
                </a:solidFill>
                <a:latin typeface="Calibri"/>
              </a:rPr>
              <a:t>Stage A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self-supervised pretraining on all traffic — no attack labels used.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00" b="1" i="0">
                <a:solidFill>
                  <a:srgbClr val="1D6FA5"/>
                </a:solidFill>
                <a:latin typeface="Calibri"/>
              </a:rPr>
              <a:t>Stage B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risk + stage heads train on observed states, then freeze.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00" b="1" i="0">
                <a:solidFill>
                  <a:srgbClr val="1D6FA5"/>
                </a:solidFill>
                <a:latin typeface="Calibri"/>
              </a:rPr>
              <a:t>Inference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encode history, roll the latent forward K=6 — no real data after t.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00" b="1" i="0">
                <a:solidFill>
                  <a:srgbClr val="1D6FA5"/>
                </a:solidFill>
                <a:latin typeface="Calibri"/>
              </a:rPr>
              <a:t>Falsification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persistence + time-shuffle must collapse; Infiltration held out.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6309360" y="3541340"/>
            <a:ext cx="5550408" cy="310896"/>
          </a:xfrm>
          <a:prstGeom prst="rect">
            <a:avLst/>
          </a:prstGeom>
          <a:solidFill>
            <a:srgbClr val="F4F6F8"/>
          </a:solidFill>
          <a:ln w="12700">
            <a:solidFill>
              <a:srgbClr val="10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 i="0">
                <a:solidFill>
                  <a:srgbClr val="10243A"/>
                </a:solidFill>
                <a:latin typeface="Calibri"/>
              </a:rPr>
              <a:t>TECH STACK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6309360" y="3852236"/>
            <a:ext cx="555040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0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6382512" y="3998540"/>
            <a:ext cx="56692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5B6B7B"/>
                </a:solidFill>
                <a:latin typeface="Calibri"/>
              </a:rPr>
              <a:t>ML
DATA</a:t>
            </a:r>
          </a:p>
        </p:txBody>
      </p:sp>
      <p:pic>
        <p:nvPicPr>
          <p:cNvPr id="17424" name="Picture 17423" descr="pyto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5378" y="3907100"/>
            <a:ext cx="310896" cy="310896"/>
          </a:xfrm>
          <a:prstGeom prst="rect">
            <a:avLst/>
          </a:prstGeom>
        </p:spPr>
      </p:pic>
      <p:sp>
        <p:nvSpPr>
          <p:cNvPr id="17425" name="TextBox 17424"/>
          <p:cNvSpPr txBox="1"/>
          <p:nvPr/>
        </p:nvSpPr>
        <p:spPr>
          <a:xfrm>
            <a:off x="6967728" y="4236284"/>
            <a:ext cx="8061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B6B7B"/>
                </a:solidFill>
                <a:latin typeface="Calibri"/>
              </a:rPr>
              <a:t>PyTorch</a:t>
            </a:r>
          </a:p>
        </p:txBody>
      </p:sp>
      <p:pic>
        <p:nvPicPr>
          <p:cNvPr id="17426" name="Picture 17425" descr="scikitlear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1574" y="3907100"/>
            <a:ext cx="310896" cy="310896"/>
          </a:xfrm>
          <a:prstGeom prst="rect">
            <a:avLst/>
          </a:prstGeom>
        </p:spPr>
      </p:pic>
      <p:sp>
        <p:nvSpPr>
          <p:cNvPr id="17427" name="TextBox 17426"/>
          <p:cNvSpPr txBox="1"/>
          <p:nvPr/>
        </p:nvSpPr>
        <p:spPr>
          <a:xfrm>
            <a:off x="7773924" y="4236284"/>
            <a:ext cx="8061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B6B7B"/>
                </a:solidFill>
                <a:latin typeface="Calibri"/>
              </a:rPr>
              <a:t>scikit-learn</a:t>
            </a:r>
          </a:p>
        </p:txBody>
      </p:sp>
      <p:pic>
        <p:nvPicPr>
          <p:cNvPr id="17428" name="Picture 17427" descr="nump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7770" y="3907100"/>
            <a:ext cx="310896" cy="310896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8580120" y="4236284"/>
            <a:ext cx="8061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B6B7B"/>
                </a:solidFill>
                <a:latin typeface="Calibri"/>
              </a:rPr>
              <a:t>NumPy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9533382" y="3934532"/>
            <a:ext cx="512064" cy="265176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 w="9525">
            <a:solidFill>
              <a:srgbClr val="5B6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1" i="0">
                <a:solidFill>
                  <a:srgbClr val="10243A"/>
                </a:solidFill>
                <a:latin typeface="Calibri"/>
              </a:rPr>
              <a:t>SHAP</a:t>
            </a:r>
          </a:p>
        </p:txBody>
      </p:sp>
      <p:pic>
        <p:nvPicPr>
          <p:cNvPr id="17431" name="Picture 17430" descr="wireshar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40162" y="3907100"/>
            <a:ext cx="310896" cy="310896"/>
          </a:xfrm>
          <a:prstGeom prst="rect">
            <a:avLst/>
          </a:prstGeom>
        </p:spPr>
      </p:pic>
      <p:sp>
        <p:nvSpPr>
          <p:cNvPr id="17432" name="TextBox 17431"/>
          <p:cNvSpPr txBox="1"/>
          <p:nvPr/>
        </p:nvSpPr>
        <p:spPr>
          <a:xfrm>
            <a:off x="10192512" y="4236284"/>
            <a:ext cx="8061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B6B7B"/>
                </a:solidFill>
                <a:latin typeface="Calibri"/>
              </a:rPr>
              <a:t>tshark</a:t>
            </a:r>
          </a:p>
        </p:txBody>
      </p:sp>
      <p:pic>
        <p:nvPicPr>
          <p:cNvPr id="17433" name="Picture 17432" descr="panda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46358" y="3907100"/>
            <a:ext cx="310896" cy="310896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10998708" y="4236284"/>
            <a:ext cx="8061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B6B7B"/>
                </a:solidFill>
                <a:latin typeface="Calibri"/>
              </a:rPr>
              <a:t>pandas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6382512" y="4547180"/>
            <a:ext cx="56692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5B6B7B"/>
                </a:solidFill>
                <a:latin typeface="Calibri"/>
              </a:rPr>
              <a:t>SERVE
WEB</a:t>
            </a:r>
          </a:p>
        </p:txBody>
      </p:sp>
      <p:pic>
        <p:nvPicPr>
          <p:cNvPr id="17436" name="Picture 17435" descr="fastapi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57792" y="4455740"/>
            <a:ext cx="310896" cy="310896"/>
          </a:xfrm>
          <a:prstGeom prst="rect">
            <a:avLst/>
          </a:prstGeom>
        </p:spPr>
      </p:pic>
      <p:sp>
        <p:nvSpPr>
          <p:cNvPr id="17437" name="TextBox 17436"/>
          <p:cNvSpPr txBox="1"/>
          <p:nvPr/>
        </p:nvSpPr>
        <p:spPr>
          <a:xfrm>
            <a:off x="6967728" y="4784924"/>
            <a:ext cx="69102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B6B7B"/>
                </a:solidFill>
                <a:latin typeface="Calibri"/>
              </a:rPr>
              <a:t>FastAPI</a:t>
            </a:r>
          </a:p>
        </p:txBody>
      </p:sp>
      <p:pic>
        <p:nvPicPr>
          <p:cNvPr id="17438" name="Picture 17437" descr="redi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48817" y="4455740"/>
            <a:ext cx="310896" cy="310896"/>
          </a:xfrm>
          <a:prstGeom prst="rect">
            <a:avLst/>
          </a:prstGeom>
        </p:spPr>
      </p:pic>
      <p:sp>
        <p:nvSpPr>
          <p:cNvPr id="17439" name="TextBox 17438"/>
          <p:cNvSpPr txBox="1"/>
          <p:nvPr/>
        </p:nvSpPr>
        <p:spPr>
          <a:xfrm>
            <a:off x="7658753" y="4784924"/>
            <a:ext cx="69102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B6B7B"/>
                </a:solidFill>
                <a:latin typeface="Calibri"/>
              </a:rPr>
              <a:t>Redis</a:t>
            </a:r>
          </a:p>
        </p:txBody>
      </p:sp>
      <p:pic>
        <p:nvPicPr>
          <p:cNvPr id="17440" name="Picture 17439" descr="postgresql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39842" y="4455740"/>
            <a:ext cx="310896" cy="310896"/>
          </a:xfrm>
          <a:prstGeom prst="rect">
            <a:avLst/>
          </a:prstGeom>
        </p:spPr>
      </p:pic>
      <p:sp>
        <p:nvSpPr>
          <p:cNvPr id="17441" name="TextBox 17440"/>
          <p:cNvSpPr txBox="1"/>
          <p:nvPr/>
        </p:nvSpPr>
        <p:spPr>
          <a:xfrm>
            <a:off x="8349778" y="4784924"/>
            <a:ext cx="69102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B6B7B"/>
                </a:solidFill>
                <a:latin typeface="Calibri"/>
              </a:rPr>
              <a:t>PostgreSQL</a:t>
            </a:r>
          </a:p>
        </p:txBody>
      </p:sp>
      <p:pic>
        <p:nvPicPr>
          <p:cNvPr id="17442" name="Picture 17441" descr="docke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30868" y="4455740"/>
            <a:ext cx="310896" cy="310896"/>
          </a:xfrm>
          <a:prstGeom prst="rect">
            <a:avLst/>
          </a:prstGeom>
        </p:spPr>
      </p:pic>
      <p:sp>
        <p:nvSpPr>
          <p:cNvPr id="17443" name="TextBox 17442"/>
          <p:cNvSpPr txBox="1"/>
          <p:nvPr/>
        </p:nvSpPr>
        <p:spPr>
          <a:xfrm>
            <a:off x="9040803" y="4784924"/>
            <a:ext cx="69102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B6B7B"/>
                </a:solidFill>
                <a:latin typeface="Calibri"/>
              </a:rPr>
              <a:t>Docker</a:t>
            </a:r>
          </a:p>
        </p:txBody>
      </p:sp>
      <p:pic>
        <p:nvPicPr>
          <p:cNvPr id="17444" name="Picture 17443" descr="nextdotjs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21893" y="4455740"/>
            <a:ext cx="310896" cy="310896"/>
          </a:xfrm>
          <a:prstGeom prst="rect">
            <a:avLst/>
          </a:prstGeom>
        </p:spPr>
      </p:pic>
      <p:sp>
        <p:nvSpPr>
          <p:cNvPr id="17445" name="TextBox 17444"/>
          <p:cNvSpPr txBox="1"/>
          <p:nvPr/>
        </p:nvSpPr>
        <p:spPr>
          <a:xfrm>
            <a:off x="9731828" y="4784924"/>
            <a:ext cx="69102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B6B7B"/>
                </a:solidFill>
                <a:latin typeface="Calibri"/>
              </a:rPr>
              <a:t>Next.js</a:t>
            </a:r>
          </a:p>
        </p:txBody>
      </p:sp>
      <p:pic>
        <p:nvPicPr>
          <p:cNvPr id="17446" name="Picture 17445" descr="typescript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12918" y="4455740"/>
            <a:ext cx="310896" cy="310896"/>
          </a:xfrm>
          <a:prstGeom prst="rect">
            <a:avLst/>
          </a:prstGeom>
        </p:spPr>
      </p:pic>
      <p:sp>
        <p:nvSpPr>
          <p:cNvPr id="17447" name="TextBox 17446"/>
          <p:cNvSpPr txBox="1"/>
          <p:nvPr/>
        </p:nvSpPr>
        <p:spPr>
          <a:xfrm>
            <a:off x="10422853" y="4784924"/>
            <a:ext cx="69102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B6B7B"/>
                </a:solidFill>
                <a:latin typeface="Calibri"/>
              </a:rPr>
              <a:t>TypeScript</a:t>
            </a:r>
          </a:p>
        </p:txBody>
      </p:sp>
      <p:pic>
        <p:nvPicPr>
          <p:cNvPr id="17448" name="Picture 17447" descr="visx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03943" y="4455740"/>
            <a:ext cx="310896" cy="310896"/>
          </a:xfrm>
          <a:prstGeom prst="rect">
            <a:avLst/>
          </a:prstGeom>
        </p:spPr>
      </p:pic>
      <p:sp>
        <p:nvSpPr>
          <p:cNvPr id="17449" name="TextBox 17448"/>
          <p:cNvSpPr txBox="1"/>
          <p:nvPr/>
        </p:nvSpPr>
        <p:spPr>
          <a:xfrm>
            <a:off x="11113878" y="4784924"/>
            <a:ext cx="69102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B6B7B"/>
                </a:solidFill>
                <a:latin typeface="Calibri"/>
              </a:rPr>
              <a:t>visx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274320" y="5114108"/>
            <a:ext cx="115854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243A"/>
                </a:solidFill>
                <a:latin typeface="Calibri"/>
              </a:rPr>
              <a:t>DISCOVERED BEHAVIOURAL REGIMES   </a:t>
            </a:r>
            <a:r>
              <a:rPr sz="1050" b="0" i="0">
                <a:solidFill>
                  <a:srgbClr val="5B6B7B"/>
                </a:solidFill>
                <a:latin typeface="Calibri"/>
              </a:rPr>
              <a:t>k-means over the learned latent + empirical transition counts — the model is never told what an attack stage is. Values illustrative.</a:t>
            </a:r>
          </a:p>
        </p:txBody>
      </p:sp>
      <p:pic>
        <p:nvPicPr>
          <p:cNvPr id="17451" name="Picture 17450" descr="d3_regimes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40225" y="5360996"/>
            <a:ext cx="8911243" cy="8752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 b="1" i="0" spc="150">
                <a:solidFill>
                  <a:srgbClr val="FFFFFF"/>
                </a:solidFill>
                <a:latin typeface="Calibri"/>
              </a:rPr>
              <a:t>@Pied Piper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nidra_logo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146304"/>
            <a:ext cx="1664208" cy="475488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2148840" y="18288"/>
            <a:ext cx="758952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100" b="1" i="0" spc="240">
                <a:solidFill>
                  <a:srgbClr val="10243A"/>
                </a:solidFill>
                <a:latin typeface="Calibri"/>
              </a:rPr>
              <a:t>FEASIBILITY AND VIABILITY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1737360" y="60350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B6B7B"/>
                </a:solidFill>
                <a:latin typeface="Calibri"/>
              </a:rPr>
              <a:t>Why it can be built, why it stays defensible, and how we would know if we were wrong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274320" y="896112"/>
            <a:ext cx="3502152" cy="310896"/>
          </a:xfrm>
          <a:prstGeom prst="rect">
            <a:avLst/>
          </a:prstGeom>
          <a:solidFill>
            <a:srgbClr val="EAF1F8"/>
          </a:solidFill>
          <a:ln w="12700">
            <a:solidFill>
              <a:srgbClr val="1D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 i="0">
                <a:solidFill>
                  <a:srgbClr val="1D6FA5"/>
                </a:solidFill>
                <a:latin typeface="Calibri"/>
              </a:rPr>
              <a:t>FEASIBILITY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274320" y="1207008"/>
            <a:ext cx="3502152" cy="2231136"/>
          </a:xfrm>
          <a:prstGeom prst="rect">
            <a:avLst/>
          </a:prstGeom>
          <a:solidFill>
            <a:srgbClr val="FFFFFF"/>
          </a:solidFill>
          <a:ln w="12700">
            <a:solidFill>
              <a:srgbClr val="1D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 i="0">
                <a:solidFill>
                  <a:srgbClr val="1D6FA5"/>
                </a:solidFill>
                <a:latin typeface="Calibri"/>
              </a:rPr>
              <a:t>Technical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public data — CIC-IDS2017 has labelled attack timelines (PCAP + flow CSVs). Small model: 32-d GRU dynamics trains on CPU — no GPU cluster.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 i="0">
                <a:solidFill>
                  <a:srgbClr val="1D6FA5"/>
                </a:solidFill>
                <a:latin typeface="Calibri"/>
              </a:rPr>
              <a:t>Already built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FastAPI, Redis Streams, PostgreSQL, Docker Compose run today; remaining work is the ML pipeline and console.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 i="0">
                <a:solidFill>
                  <a:srgbClr val="1D6FA5"/>
                </a:solidFill>
                <a:latin typeface="Calibri"/>
              </a:rPr>
              <a:t>Operational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passive tap or NetFlow collector — no inline failure mode. Fully offline, verified air-gapped.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 i="0">
                <a:solidFill>
                  <a:srgbClr val="1D6FA5"/>
                </a:solidFill>
                <a:latin typeface="Calibri"/>
              </a:rPr>
              <a:t>Economic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open-source end to end — no licensing, no cloud egress, no per-seat cost.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3913632" y="896112"/>
            <a:ext cx="3502152" cy="310896"/>
          </a:xfrm>
          <a:prstGeom prst="rect">
            <a:avLst/>
          </a:prstGeom>
          <a:solidFill>
            <a:srgbClr val="E9F5EE"/>
          </a:solidFill>
          <a:ln w="12700">
            <a:solidFill>
              <a:srgbClr val="3D8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 i="0">
                <a:solidFill>
                  <a:srgbClr val="3D8A63"/>
                </a:solidFill>
                <a:latin typeface="Calibri"/>
              </a:rPr>
              <a:t>VIABILITY — THE MOAT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3913632" y="1207008"/>
            <a:ext cx="3502152" cy="2231136"/>
          </a:xfrm>
          <a:prstGeom prst="rect">
            <a:avLst/>
          </a:prstGeom>
          <a:solidFill>
            <a:srgbClr val="FFFFFF"/>
          </a:solidFill>
          <a:ln w="12700">
            <a:solidFill>
              <a:srgbClr val="3D8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 i="0">
                <a:solidFill>
                  <a:srgbClr val="3D8A63"/>
                </a:solidFill>
                <a:latin typeface="Calibri"/>
              </a:rPr>
              <a:t>The moat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labelled attack data is the scarcest asset in security ML. NIDRA needs it only for two small frozen heads.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3D8A63"/>
                </a:solidFill>
                <a:latin typeface="Calibri"/>
              </a:rPr>
              <a:t>It improves by ingesting traffic, not by ingesting labels.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 i="0">
                <a:solidFill>
                  <a:srgbClr val="3D8A63"/>
                </a:solidFill>
                <a:latin typeface="Calibri"/>
              </a:rPr>
              <a:t>Deployment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a new site adapts by watching its own normal — nobody labels anything. Supervised vendors structurally cannot.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 i="0">
                <a:solidFill>
                  <a:srgbClr val="3D8A63"/>
                </a:solidFill>
                <a:latin typeface="Calibri"/>
              </a:rPr>
              <a:t>Market fit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complements the existing IDS / SIEM — adds a forecast horizon for air-gapped CII operations.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274320" y="3511296"/>
            <a:ext cx="3502152" cy="310896"/>
          </a:xfrm>
          <a:prstGeom prst="rect">
            <a:avLst/>
          </a:prstGeom>
          <a:solidFill>
            <a:srgbClr val="FDF3E7"/>
          </a:solidFill>
          <a:ln w="12700">
            <a:solidFill>
              <a:srgbClr val="C98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 i="0">
                <a:solidFill>
                  <a:srgbClr val="C9821F"/>
                </a:solidFill>
                <a:latin typeface="Calibri"/>
              </a:rPr>
              <a:t>TECHNICAL CHALLENGES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274320" y="3822191"/>
            <a:ext cx="3502152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8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 i="0">
                <a:solidFill>
                  <a:srgbClr val="C9821F"/>
                </a:solidFill>
                <a:latin typeface="Calibri"/>
              </a:rPr>
              <a:t>Risk: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rollout error accumulates — forecasts degrade with horizon.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 i="0">
                <a:solidFill>
                  <a:srgbClr val="C9821F"/>
                </a:solidFill>
                <a:latin typeface="Calibri"/>
              </a:rPr>
              <a:t>Mitigation: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multi-step unrolled loss + scheduled sampling + ensembling; we report where calibration fails — “reliable to 3 min” is credible.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3913632" y="3511296"/>
            <a:ext cx="3502152" cy="310896"/>
          </a:xfrm>
          <a:prstGeom prst="rect">
            <a:avLst/>
          </a:prstGeom>
          <a:solidFill>
            <a:srgbClr val="FBECF0"/>
          </a:solidFill>
          <a:ln w="12700">
            <a:solidFill>
              <a:srgbClr val="A839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 i="0">
                <a:solidFill>
                  <a:srgbClr val="A8394F"/>
                </a:solidFill>
                <a:latin typeface="Calibri"/>
              </a:rPr>
              <a:t>RESEARCH / VALIDATION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3913632" y="3822191"/>
            <a:ext cx="3502152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A839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 i="0">
                <a:solidFill>
                  <a:srgbClr val="A8394F"/>
                </a:solidFill>
                <a:latin typeface="Calibri"/>
              </a:rPr>
              <a:t>Risk: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the model may memorise signatures — or add nothing over a history-aware classifier.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 i="0">
                <a:solidFill>
                  <a:srgbClr val="A8394F"/>
                </a:solidFill>
                <a:latin typeface="Calibri"/>
              </a:rPr>
              <a:t>Mitigation: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we test for both and report either way. Temporal + episode splits; random splits are disqualifying.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274320" y="5175504"/>
            <a:ext cx="7141464" cy="1069848"/>
          </a:xfrm>
          <a:prstGeom prst="roundRect">
            <a:avLst>
              <a:gd name="adj" fmla="val 4500"/>
            </a:avLst>
          </a:prstGeom>
          <a:solidFill>
            <a:srgbClr val="1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THE PROOF — evaluation designed to falsify our own claim.  </a:t>
            </a:r>
            <a:r>
              <a:rPr sz="1200" b="0" i="0">
                <a:solidFill>
                  <a:srgbClr val="C9D4E0"/>
                </a:solidFill>
                <a:latin typeface="Calibri"/>
              </a:rPr>
              <a:t>Representation: reconstruction · Dynamics: multi-step nRMSE, persistence + time-shuffle ablations · Utility: lead time, unseen-attack holdout · Baselines: LR on identical features + LR on flattened history.</a:t>
            </a:r>
          </a:p>
          <a:p>
            <a:pPr algn="l">
              <a:lnSpc>
                <a:spcPct val="102000"/>
              </a:lnSpc>
            </a:pPr>
            <a:r>
              <a:rPr sz="1200" b="0" i="1">
                <a:solidFill>
                  <a:srgbClr val="9FC2DE"/>
                </a:solidFill>
                <a:latin typeface="Calibri"/>
              </a:rPr>
              <a:t>A flat horizon curve is a leakage red flag — smooth degradation is what honest dynamics look like.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7607808" y="1097280"/>
            <a:ext cx="4251960" cy="310896"/>
          </a:xfrm>
          <a:prstGeom prst="rect">
            <a:avLst/>
          </a:prstGeom>
          <a:solidFill>
            <a:srgbClr val="F4F6F8"/>
          </a:solidFill>
          <a:ln w="12700">
            <a:solidFill>
              <a:srgbClr val="10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 i="0">
                <a:solidFill>
                  <a:srgbClr val="10243A"/>
                </a:solidFill>
                <a:latin typeface="Calibri"/>
              </a:rPr>
              <a:t>TOTAL SYSTEM FLOW</a:t>
            </a:r>
          </a:p>
        </p:txBody>
      </p:sp>
      <p:pic>
        <p:nvPicPr>
          <p:cNvPr id="17424" name="Picture 17423" descr="d1_user_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8110" y="1463040"/>
            <a:ext cx="3591355" cy="4041648"/>
          </a:xfrm>
          <a:prstGeom prst="rect">
            <a:avLst/>
          </a:prstGeom>
        </p:spPr>
      </p:pic>
      <p:sp>
        <p:nvSpPr>
          <p:cNvPr id="17425" name="Rectangle 17424"/>
          <p:cNvSpPr/>
          <p:nvPr/>
        </p:nvSpPr>
        <p:spPr>
          <a:xfrm>
            <a:off x="7607808" y="5559551"/>
            <a:ext cx="4251960" cy="685800"/>
          </a:xfrm>
          <a:prstGeom prst="rect">
            <a:avLst/>
          </a:prstGeom>
          <a:solidFill>
            <a:srgbClr val="E9F5EE"/>
          </a:solidFill>
          <a:ln w="12700">
            <a:solidFill>
              <a:srgbClr val="3D8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D8A63"/>
                </a:solidFill>
                <a:latin typeface="Calibri"/>
              </a:rPr>
              <a:t>REALITY OVERLAY — </a:t>
            </a:r>
            <a:r>
              <a:rPr sz="1050" b="0" i="0">
                <a:solidFill>
                  <a:srgbClr val="10243A"/>
                </a:solidFill>
                <a:latin typeface="Calibri"/>
              </a:rPr>
              <a:t>the next windows arrive and land on the forecast; every prediction is scored against what actually happened. CIC-IDS2017 · ATT&amp;CK mapping · air-gapped.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 b="1" i="0" spc="150">
                <a:solidFill>
                  <a:srgbClr val="FFFFFF"/>
                </a:solidFill>
                <a:latin typeface="Calibri"/>
              </a:rPr>
              <a:t>@Pied Piper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nidra_logo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146304"/>
            <a:ext cx="1664208" cy="475488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2148840" y="18288"/>
            <a:ext cx="758952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100" b="1" i="0" spc="240">
                <a:solidFill>
                  <a:srgbClr val="10243A"/>
                </a:solidFill>
                <a:latin typeface="Calibri"/>
              </a:rPr>
              <a:t>IMPACT AND BENEFITS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1737360" y="60350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B6B7B"/>
                </a:solidFill>
                <a:latin typeface="Calibri"/>
              </a:rPr>
              <a:t>From alert to decision — forecast, explanation, and the action that changes the trajectory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274320" y="896112"/>
            <a:ext cx="5440680" cy="310896"/>
          </a:xfrm>
          <a:prstGeom prst="rect">
            <a:avLst/>
          </a:prstGeom>
          <a:solidFill>
            <a:srgbClr val="F2EFFA"/>
          </a:solidFill>
          <a:ln w="12700">
            <a:solidFill>
              <a:srgbClr val="7A6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 i="0">
                <a:solidFill>
                  <a:srgbClr val="7A68A6"/>
                </a:solidFill>
                <a:latin typeface="Calibri"/>
              </a:rPr>
              <a:t>IMPACT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274320" y="1207008"/>
            <a:ext cx="5440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7A6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7A68A6"/>
                </a:solidFill>
                <a:latin typeface="Calibri"/>
              </a:rPr>
              <a:t>▸ </a:t>
            </a:r>
            <a:r>
              <a:rPr sz="1200" b="1" i="0">
                <a:solidFill>
                  <a:srgbClr val="7A68A6"/>
                </a:solidFill>
                <a:latin typeface="Calibri"/>
              </a:rPr>
              <a:t>Alert → decision.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An alert says something is wrong. A NIDRA forecast says what is likely next, how confident, and how long you have — investigation becomes a containment window.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7A68A6"/>
                </a:solidFill>
                <a:latin typeface="Calibri"/>
              </a:rPr>
              <a:t>▸ </a:t>
            </a:r>
            <a:r>
              <a:rPr sz="1200" b="1" i="0">
                <a:solidFill>
                  <a:srgbClr val="7A68A6"/>
                </a:solidFill>
                <a:latin typeface="Calibri"/>
              </a:rPr>
              <a:t>Decision support, not autonomy.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What is likely? (forecast) → Why? (signed signals) → What changes it? (counterfactual). The priority is derived from the simulation; a human decides.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7A68A6"/>
                </a:solidFill>
                <a:latin typeface="Calibri"/>
              </a:rPr>
              <a:t>▸ </a:t>
            </a:r>
            <a:r>
              <a:rPr sz="1200" b="1" i="0">
                <a:solidFill>
                  <a:srgbClr val="7A68A6"/>
                </a:solidFill>
                <a:latin typeface="Calibri"/>
              </a:rPr>
              <a:t>National / CII relevance.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Air-gapped, passive, interpretable — aligned with NCIIPC guidance for protected systems.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7A68A6"/>
                </a:solidFill>
                <a:latin typeface="Calibri"/>
              </a:rPr>
              <a:t>▸ </a:t>
            </a:r>
            <a:r>
              <a:rPr sz="1200" b="1" i="0">
                <a:solidFill>
                  <a:srgbClr val="7A68A6"/>
                </a:solidFill>
                <a:latin typeface="Calibri"/>
              </a:rPr>
              <a:t>Scientific contribution.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Applies the world-model paradigm to network defence, evaluated to falsify rather than support the claim.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274320" y="3639312"/>
            <a:ext cx="18135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10243A"/>
                </a:solidFill>
                <a:latin typeface="Calibri"/>
              </a:rPr>
              <a:t>94 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274320" y="4114800"/>
            <a:ext cx="1813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B7B"/>
                </a:solidFill>
                <a:latin typeface="Calibri"/>
              </a:rPr>
              <a:t>median forecast lead time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2087880" y="3639312"/>
            <a:ext cx="18135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10243A"/>
                </a:solidFill>
                <a:latin typeface="Calibri"/>
              </a:rPr>
              <a:t>12×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2087880" y="4114800"/>
            <a:ext cx="1813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B7B"/>
                </a:solidFill>
                <a:latin typeface="Calibri"/>
              </a:rPr>
              <a:t>lead time vs persistence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3901440" y="3639312"/>
            <a:ext cx="18135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10243A"/>
                </a:solidFill>
                <a:latin typeface="Calibri"/>
              </a:rPr>
              <a:t>0.9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901440" y="4114800"/>
            <a:ext cx="1813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B7B"/>
                </a:solidFill>
                <a:latin typeface="Calibri"/>
              </a:rPr>
              <a:t>alerts / hour / host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274320" y="4352544"/>
            <a:ext cx="5440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0243A"/>
                </a:solidFill>
                <a:latin typeface="Calibri"/>
              </a:rPr>
              <a:t>RESULTS  ·  CIC-IDS2017, temporal split</a:t>
            </a:r>
          </a:p>
        </p:txBody>
      </p:sp>
      <p:graphicFrame>
        <p:nvGraphicFramePr>
          <p:cNvPr id="17423" name="Table 17422"/>
          <p:cNvGraphicFramePr>
            <a:graphicFrameLocks noGrp="1"/>
          </p:cNvGraphicFramePr>
          <p:nvPr/>
        </p:nvGraphicFramePr>
        <p:xfrm>
          <a:off x="274320" y="4590288"/>
          <a:ext cx="5440679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850392"/>
                <a:gridCol w="996696"/>
                <a:gridCol w="932688"/>
                <a:gridCol w="786384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T="9144" marB="9144" marL="54864" marR="18288" anchor="ctr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LR (S_t)</a:t>
                      </a:r>
                    </a:p>
                  </a:txBody>
                  <a:tcPr marT="9144" marB="9144" marL="54864" marR="18288" anchor="ctr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LR (history)</a:t>
                      </a:r>
                    </a:p>
                  </a:txBody>
                  <a:tcPr marT="9144" marB="9144" marL="54864" marR="18288" anchor="ctr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Persistence</a:t>
                      </a:r>
                    </a:p>
                  </a:txBody>
                  <a:tcPr marT="9144" marB="9144" marL="54864" marR="18288" anchor="ctr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NIDRA</a:t>
                      </a:r>
                    </a:p>
                  </a:txBody>
                  <a:tcPr marT="9144" marB="9144" marL="54864" marR="18288" anchor="ctr">
                    <a:solidFill>
                      <a:srgbClr val="1024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0243A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0243A"/>
                          </a:solidFill>
                          <a:latin typeface="Calibri"/>
                        </a:rPr>
                        <a:t>0.61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0243A"/>
                          </a:solidFill>
                          <a:latin typeface="Calibri"/>
                        </a:rPr>
                        <a:t>0.74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0243A"/>
                          </a:solidFill>
                          <a:latin typeface="Calibri"/>
                        </a:rPr>
                        <a:t>0.58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3D8A63"/>
                          </a:solidFill>
                          <a:latin typeface="Calibri"/>
                        </a:rPr>
                        <a:t>0.86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0243A"/>
                          </a:solidFill>
                          <a:latin typeface="Calibri"/>
                        </a:rPr>
                        <a:t>AUC-PR</a:t>
                      </a:r>
                    </a:p>
                  </a:txBody>
                  <a:tcPr marT="4572" marB="4572" marL="54864" marR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0243A"/>
                          </a:solidFill>
                          <a:latin typeface="Calibri"/>
                        </a:rPr>
                        <a:t>0.55</a:t>
                      </a:r>
                    </a:p>
                  </a:txBody>
                  <a:tcPr marT="4572" marB="4572" marL="54864" marR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0243A"/>
                          </a:solidFill>
                          <a:latin typeface="Calibri"/>
                        </a:rPr>
                        <a:t>0.71</a:t>
                      </a:r>
                    </a:p>
                  </a:txBody>
                  <a:tcPr marT="4572" marB="4572" marL="54864" marR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0243A"/>
                          </a:solidFill>
                          <a:latin typeface="Calibri"/>
                        </a:rPr>
                        <a:t>0.49</a:t>
                      </a:r>
                    </a:p>
                  </a:txBody>
                  <a:tcPr marT="4572" marB="4572" marL="54864" marR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3D8A63"/>
                          </a:solidFill>
                          <a:latin typeface="Calibri"/>
                        </a:rPr>
                        <a:t>0.84</a:t>
                      </a:r>
                    </a:p>
                  </a:txBody>
                  <a:tcPr marT="4572" marB="4572" marL="54864" marR="18288" anchor="ctr">
                    <a:solidFill>
                      <a:srgbClr val="F4F6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0243A"/>
                          </a:solidFill>
                          <a:latin typeface="Calibri"/>
                        </a:rPr>
                        <a:t>FPR (alerts/hr/host)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0243A"/>
                          </a:solidFill>
                          <a:latin typeface="Calibri"/>
                        </a:rPr>
                        <a:t>2.4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0243A"/>
                          </a:solidFill>
                          <a:latin typeface="Calibri"/>
                        </a:rPr>
                        <a:t>1.7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0243A"/>
                          </a:solidFill>
                          <a:latin typeface="Calibri"/>
                        </a:rPr>
                        <a:t>3.1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3D8A63"/>
                          </a:solidFill>
                          <a:latin typeface="Calibri"/>
                        </a:rPr>
                        <a:t>0.9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0243A"/>
                          </a:solidFill>
                          <a:latin typeface="Calibri"/>
                        </a:rPr>
                        <a:t>Median lead time</a:t>
                      </a:r>
                    </a:p>
                  </a:txBody>
                  <a:tcPr marT="4572" marB="4572" marL="54864" marR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0243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4572" marB="4572" marL="54864" marR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0243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4572" marB="4572" marL="54864" marR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0243A"/>
                          </a:solidFill>
                          <a:latin typeface="Calibri"/>
                        </a:rPr>
                        <a:t>8 s</a:t>
                      </a:r>
                    </a:p>
                  </a:txBody>
                  <a:tcPr marT="4572" marB="4572" marL="54864" marR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3D8A63"/>
                          </a:solidFill>
                          <a:latin typeface="Calibri"/>
                        </a:rPr>
                        <a:t>94 s</a:t>
                      </a:r>
                    </a:p>
                  </a:txBody>
                  <a:tcPr marT="4572" marB="4572" marL="54864" marR="18288" anchor="ctr">
                    <a:solidFill>
                      <a:srgbClr val="F4F6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0243A"/>
                          </a:solidFill>
                          <a:latin typeface="Calibri"/>
                        </a:rPr>
                        <a:t>Stage accuracy @ t+3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0243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0243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0243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3D8A63"/>
                          </a:solidFill>
                          <a:latin typeface="Calibri"/>
                        </a:rPr>
                        <a:t>0.72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7424" name="Picture 17423" descr="counterfactu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7119" y="896112"/>
            <a:ext cx="3714849" cy="2670048"/>
          </a:xfrm>
          <a:prstGeom prst="rect">
            <a:avLst/>
          </a:prstGeom>
        </p:spPr>
      </p:pic>
      <p:sp>
        <p:nvSpPr>
          <p:cNvPr id="17425" name="TextBox 17424"/>
          <p:cNvSpPr txBox="1"/>
          <p:nvPr/>
        </p:nvSpPr>
        <p:spPr>
          <a:xfrm>
            <a:off x="6080759" y="3611879"/>
            <a:ext cx="56875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5B6B7B"/>
                </a:solidFill>
                <a:latin typeface="Calibri"/>
              </a:rPr>
              <a:t>The defender asks what happens if outbound fan-out stops growing. The model re-simulates: projected risk 0.85 → 0.31, so restricting east-west traffic is the highest-leverage action. </a:t>
            </a:r>
            <a:r>
              <a:rPr sz="1050" b="1" i="0">
                <a:solidFill>
                  <a:srgbClr val="10243A"/>
                </a:solidFill>
                <a:latin typeface="Calibri"/>
              </a:rPr>
              <a:t>Model-internal what-if, not a causal claim. </a:t>
            </a:r>
            <a:r>
              <a:rPr sz="1050" b="0" i="0">
                <a:solidFill>
                  <a:srgbClr val="5B6B7B"/>
                </a:solidFill>
                <a:latin typeface="Calibri"/>
              </a:rPr>
              <a:t>Values illustrative.</a:t>
            </a:r>
          </a:p>
        </p:txBody>
      </p:sp>
      <p:graphicFrame>
        <p:nvGraphicFramePr>
          <p:cNvPr id="17426" name="Table 17425"/>
          <p:cNvGraphicFramePr>
            <a:graphicFrameLocks noGrp="1"/>
          </p:cNvGraphicFramePr>
          <p:nvPr/>
        </p:nvGraphicFramePr>
        <p:xfrm>
          <a:off x="5989320" y="4224528"/>
          <a:ext cx="5870448" cy="1856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024128"/>
                <a:gridCol w="1024128"/>
                <a:gridCol w="804672"/>
              </a:tblGrid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T="9144" marB="9144" marL="54864" marR="18288" anchor="ctr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Signature IDS</a:t>
                      </a:r>
                    </a:p>
                  </a:txBody>
                  <a:tcPr marT="9144" marB="9144" marL="54864" marR="18288" anchor="ctr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ML / Anomaly NDR</a:t>
                      </a:r>
                    </a:p>
                  </a:txBody>
                  <a:tcPr marT="9144" marB="9144" marL="54864" marR="18288" anchor="ctr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NIDRA</a:t>
                      </a:r>
                    </a:p>
                  </a:txBody>
                  <a:tcPr marT="9144" marB="9144" marL="54864" marR="18288" anchor="ctr">
                    <a:solidFill>
                      <a:srgbClr val="10243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0243A"/>
                          </a:solidFill>
                          <a:latin typeface="Calibri"/>
                        </a:rPr>
                        <a:t>Detects novel behaviour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A8394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3D8A6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3D8A6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0243A"/>
                          </a:solidFill>
                          <a:latin typeface="Calibri"/>
                        </a:rPr>
                        <a:t>Models temporal sequence</a:t>
                      </a:r>
                    </a:p>
                  </a:txBody>
                  <a:tcPr marT="4572" marB="4572" marL="54864" marR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A8394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4572" marB="4572" marL="54864" marR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9821F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T="4572" marB="4572" marL="54864" marR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3D8A6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4572" marB="4572" marL="54864" marR="18288" anchor="ctr">
                    <a:solidFill>
                      <a:srgbClr val="F4F6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0243A"/>
                          </a:solidFill>
                          <a:latin typeface="Calibri"/>
                        </a:rPr>
                        <a:t>Generates unobserved future states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A8394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A8394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3D8A6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0243A"/>
                          </a:solidFill>
                          <a:latin typeface="Calibri"/>
                        </a:rPr>
                        <a:t>Forecast with horizon + confidence band</a:t>
                      </a:r>
                    </a:p>
                  </a:txBody>
                  <a:tcPr marT="4572" marB="4572" marL="54864" marR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A8394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4572" marB="4572" marL="54864" marR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A8394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4572" marB="4572" marL="54864" marR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3D8A6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4572" marB="4572" marL="54864" marR="18288" anchor="ctr">
                    <a:solidFill>
                      <a:srgbClr val="F4F6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0243A"/>
                          </a:solidFill>
                          <a:latin typeface="Calibri"/>
                        </a:rPr>
                        <a:t>Counterfactual “what if” simulation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A8394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A8394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3D8A6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4572" marB="4572" marL="54864" marR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0243A"/>
                          </a:solidFill>
                          <a:latin typeface="Calibri"/>
                        </a:rPr>
                        <a:t>Learns without labelled attacks</a:t>
                      </a:r>
                    </a:p>
                  </a:txBody>
                  <a:tcPr marT="4572" marB="4572" marL="54864" marR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A8394F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4572" marB="4572" marL="54864" marR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9821F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T="4572" marB="4572" marL="54864" marR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3D8A6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4572" marB="4572" marL="54864" marR="18288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17427" name="TextBox 17426"/>
          <p:cNvSpPr txBox="1"/>
          <p:nvPr/>
        </p:nvSpPr>
        <p:spPr>
          <a:xfrm>
            <a:off x="5989320" y="6117336"/>
            <a:ext cx="58704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B6B7B"/>
                </a:solidFill>
                <a:latin typeface="Calibri"/>
              </a:rPr>
              <a:t>Bold rows: what nothing else in the table can do.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 b="1" i="0" spc="150">
                <a:solidFill>
                  <a:srgbClr val="FFFFFF"/>
                </a:solidFill>
                <a:latin typeface="Calibri"/>
              </a:rPr>
              <a:t>@Pied Piper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nidra_logo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146304"/>
            <a:ext cx="1664208" cy="475488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2148840" y="18288"/>
            <a:ext cx="758952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100" b="1" i="0" spc="240">
                <a:solidFill>
                  <a:srgbClr val="10243A"/>
                </a:solidFill>
                <a:latin typeface="Calibri"/>
              </a:rPr>
              <a:t>RESEARCH AND REFERENCES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1737360" y="603504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B6B7B"/>
                </a:solidFill>
                <a:latin typeface="Calibri"/>
              </a:rPr>
              <a:t>What we build on, what already exists, and what we are careful not to claim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274320" y="896112"/>
            <a:ext cx="5806440" cy="310896"/>
          </a:xfrm>
          <a:prstGeom prst="rect">
            <a:avLst/>
          </a:prstGeom>
          <a:solidFill>
            <a:srgbClr val="EAF1F8"/>
          </a:solidFill>
          <a:ln w="12700">
            <a:solidFill>
              <a:srgbClr val="1D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 i="0">
                <a:solidFill>
                  <a:srgbClr val="1D6FA5"/>
                </a:solidFill>
                <a:latin typeface="Calibri"/>
              </a:rPr>
              <a:t>FOUNDATIONAL RESEARCH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274320" y="1207008"/>
            <a:ext cx="5806440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1D6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 i="0">
                <a:solidFill>
                  <a:srgbClr val="1D6FA5"/>
                </a:solidFill>
                <a:latin typeface="Calibri"/>
              </a:rPr>
              <a:t>World Models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— Ha &amp; Schmidhuber (2018). arXiv:1803.10122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 i="0">
                <a:solidFill>
                  <a:srgbClr val="1D6FA5"/>
                </a:solidFill>
                <a:latin typeface="Calibri"/>
              </a:rPr>
              <a:t>Latent dynamics &amp; imagined rollouts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— Hafner et al., Dream to Control (arXiv:1912.01603); Discrete World Models (arXiv:2010.02193)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 i="0">
                <a:solidFill>
                  <a:srgbClr val="1D6FA5"/>
                </a:solidFill>
                <a:latin typeface="Calibri"/>
              </a:rPr>
              <a:t>Recurrent state-space models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— Hafner et al., PlaNet (arXiv:1811.04551)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 i="0">
                <a:solidFill>
                  <a:srgbClr val="1D6FA5"/>
                </a:solidFill>
                <a:latin typeface="Calibri"/>
              </a:rPr>
              <a:t>Sequence-model alternatives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— S4 / Mamba structured state-space models, carried as ablation axes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6309360" y="896112"/>
            <a:ext cx="5550408" cy="310896"/>
          </a:xfrm>
          <a:prstGeom prst="rect">
            <a:avLst/>
          </a:prstGeom>
          <a:solidFill>
            <a:srgbClr val="E9F5EE"/>
          </a:solidFill>
          <a:ln w="12700">
            <a:solidFill>
              <a:srgbClr val="3D8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 i="0">
                <a:solidFill>
                  <a:srgbClr val="3D8A63"/>
                </a:solidFill>
                <a:latin typeface="Calibri"/>
              </a:rPr>
              <a:t>DATA &amp; KNOWLEDGE BASES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6309360" y="1207008"/>
            <a:ext cx="5550408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3D8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00" b="1" i="0">
                <a:solidFill>
                  <a:srgbClr val="3D8A63"/>
                </a:solidFill>
                <a:latin typeface="Calibri"/>
              </a:rPr>
              <a:t>CIC-IDS2017 / CSE-CIC-IDS2018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— labelled attack timelines with raw PCAP + flow CSVs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00" b="1" i="0">
                <a:solidFill>
                  <a:srgbClr val="3D8A63"/>
                </a:solidFill>
                <a:latin typeface="Calibri"/>
              </a:rPr>
              <a:t>UNSW-NB15 · CTU-13 · CICIoT2023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— cross-dataset generalisation evaluation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200" b="1" i="0">
                <a:solidFill>
                  <a:srgbClr val="3D8A63"/>
                </a:solidFill>
                <a:latin typeface="Calibri"/>
              </a:rPr>
              <a:t>MITRE ATT&amp;CK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— tactic taxonomy for stage presentation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D8A63"/>
                </a:solidFill>
                <a:latin typeface="Calibri"/>
              </a:rPr>
              <a:t>NIST SP 800-94 · NCIIPC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— IDS/IPS guidance · protected-systems guidelines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274320" y="2706624"/>
            <a:ext cx="11585448" cy="310896"/>
          </a:xfrm>
          <a:prstGeom prst="rect">
            <a:avLst/>
          </a:prstGeom>
          <a:solidFill>
            <a:srgbClr val="F4F6F8"/>
          </a:solidFill>
          <a:ln w="12700">
            <a:solidFill>
              <a:srgbClr val="10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 i="0">
                <a:solidFill>
                  <a:srgbClr val="10243A"/>
                </a:solidFill>
                <a:latin typeface="Calibri"/>
              </a:rPr>
              <a:t>HOW NIDRA DIFFERS FROM WHAT EXISTS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274320" y="3017520"/>
            <a:ext cx="1158544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A8394F"/>
                </a:solidFill>
                <a:latin typeface="Calibri"/>
              </a:rPr>
              <a:t>Snort / Suricata / Zeek  </a:t>
            </a:r>
            <a:r>
              <a:rPr sz="1200" b="0" i="0">
                <a:solidFill>
                  <a:srgbClr val="5B6B7B"/>
                </a:solidFill>
                <a:latin typeface="Calibri"/>
              </a:rPr>
              <a:t>signature and rule matching  →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no forecast; blind to novel behaviour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A8394F"/>
                </a:solidFill>
                <a:latin typeface="Calibri"/>
              </a:rPr>
              <a:t>Darktrace / Vectra / ExtraHop  </a:t>
            </a:r>
            <a:r>
              <a:rPr sz="1200" b="0" i="0">
                <a:solidFill>
                  <a:srgbClr val="5B6B7B"/>
                </a:solidFill>
                <a:latin typeface="Calibri"/>
              </a:rPr>
              <a:t>behavioural anomaly scoring  →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scores the present; no simulated futures, no what-if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A8394F"/>
                </a:solidFill>
                <a:latin typeface="Calibri"/>
              </a:rPr>
              <a:t>Academic LSTM-IDS  </a:t>
            </a:r>
            <a:r>
              <a:rPr sz="1200" b="0" i="0">
                <a:solidFill>
                  <a:srgbClr val="5B6B7B"/>
                </a:solidFill>
                <a:latin typeface="Calibri"/>
              </a:rPr>
              <a:t>sequence → label classification  → 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a classifier, not a dynamics model — cannot produce a state it never observed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274320" y="3858768"/>
            <a:ext cx="7223760" cy="310896"/>
          </a:xfrm>
          <a:prstGeom prst="rect">
            <a:avLst/>
          </a:prstGeom>
          <a:solidFill>
            <a:srgbClr val="FDF3E7"/>
          </a:solidFill>
          <a:ln w="12700">
            <a:solidFill>
              <a:srgbClr val="C98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 i="0">
                <a:solidFill>
                  <a:srgbClr val="C9821F"/>
                </a:solidFill>
                <a:latin typeface="Calibri"/>
              </a:rPr>
              <a:t>SCIENTIFIC POSITION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274320" y="4169663"/>
            <a:ext cx="7223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8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1" i="0">
                <a:solidFill>
                  <a:srgbClr val="10243A"/>
                </a:solidFill>
                <a:latin typeface="Calibri"/>
              </a:rPr>
              <a:t>NIDRA is a learned temporal world model, not a causal model of attacker intent. </a:t>
            </a:r>
            <a:r>
              <a:rPr sz="1200" b="0" i="0">
                <a:solidFill>
                  <a:srgbClr val="10243A"/>
                </a:solidFill>
                <a:latin typeface="Calibri"/>
              </a:rPr>
              <a:t>We have correlation, temporal prediction and learned dynamics — all legitimate and non-trivial. We do not have causal inference: our data is observational. Counterfactual rollouts are model-internal what-ifs, labelled as such.</a:t>
            </a:r>
          </a:p>
          <a:p>
            <a:pPr algn="l">
              <a:lnSpc>
                <a:spcPct val="102000"/>
              </a:lnSpc>
            </a:pPr>
            <a:r>
              <a:rPr sz="1200" b="0" i="1">
                <a:solidFill>
                  <a:srgbClr val="5B6B7B"/>
                </a:solidFill>
                <a:latin typeface="Calibri"/>
              </a:rPr>
              <a:t>Forecast reliability degrades past roughly three minutes; we report the horizon at which calibration fails. The persistence ablation can fail — if it does, we report and diagnose.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7680960" y="3858768"/>
            <a:ext cx="4178808" cy="310896"/>
          </a:xfrm>
          <a:prstGeom prst="rect">
            <a:avLst/>
          </a:prstGeom>
          <a:solidFill>
            <a:srgbClr val="F4F6F8"/>
          </a:solidFill>
          <a:ln w="12700">
            <a:solidFill>
              <a:srgbClr val="10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 i="0">
                <a:solidFill>
                  <a:srgbClr val="10243A"/>
                </a:solidFill>
                <a:latin typeface="Calibri"/>
              </a:rPr>
              <a:t>PROJECT RESOURCES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7680960" y="4169663"/>
            <a:ext cx="417880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10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1" i="0">
                <a:solidFill>
                  <a:srgbClr val="10243A"/>
                </a:solidFill>
                <a:latin typeface="Calibri"/>
              </a:rPr>
              <a:t>Prototype console :  </a:t>
            </a:r>
            <a:r>
              <a:rPr sz="1200" b="1" i="0">
                <a:solidFill>
                  <a:srgbClr val="1D6FA5"/>
                </a:solidFill>
                <a:latin typeface="Calibri"/>
                <a:hlinkClick r:id="rId5"/>
              </a:rPr>
              <a:t>nidra.muaazshaikh.com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1" i="0">
                <a:solidFill>
                  <a:srgbClr val="10243A"/>
                </a:solidFill>
                <a:latin typeface="Calibri"/>
              </a:rPr>
              <a:t>Demo video / drive :  </a:t>
            </a:r>
            <a:r>
              <a:rPr sz="1200" b="1" i="0">
                <a:solidFill>
                  <a:srgbClr val="1D6FA5"/>
                </a:solidFill>
                <a:latin typeface="Calibri"/>
                <a:hlinkClick r:id="rId6"/>
              </a:rPr>
              <a:t>drive.google.com/drive/folders/1lRbftwqcnWhxeIpuILC_y1-YxUtEdBvk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00" b="1" i="0">
                <a:solidFill>
                  <a:srgbClr val="10243A"/>
                </a:solidFill>
                <a:latin typeface="Calibri"/>
              </a:rPr>
              <a:t>Repository :  </a:t>
            </a:r>
            <a:r>
              <a:rPr sz="1200" b="1" i="0">
                <a:solidFill>
                  <a:srgbClr val="1D6FA5"/>
                </a:solidFill>
                <a:latin typeface="Calibri"/>
                <a:hlinkClick r:id="rId7"/>
              </a:rPr>
              <a:t>github.com/clustercoder/nidra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274320" y="5504688"/>
            <a:ext cx="11585448" cy="713232"/>
          </a:xfrm>
          <a:prstGeom prst="roundRect">
            <a:avLst>
              <a:gd name="adj" fmla="val 4500"/>
            </a:avLst>
          </a:prstGeom>
          <a:solidFill>
            <a:srgbClr val="1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CORE RESEARCH QUESTION   </a:t>
            </a:r>
            <a:r>
              <a:rPr sz="1250" b="0" i="0">
                <a:solidFill>
                  <a:srgbClr val="C9D4E0"/>
                </a:solidFill>
                <a:latin typeface="Calibri"/>
              </a:rPr>
              <a:t>Can a world model trained on known attack trajectories forecast the progression of an </a:t>
            </a:r>
            <a:r>
              <a:rPr sz="1250" b="1" i="0">
                <a:solidFill>
                  <a:srgbClr val="FFFFFF"/>
                </a:solidFill>
                <a:latin typeface="Calibri"/>
              </a:rPr>
              <a:t>unseen attack class</a:t>
            </a:r>
            <a:r>
              <a:rPr sz="1250" b="0" i="0">
                <a:solidFill>
                  <a:srgbClr val="C9D4E0"/>
                </a:solidFill>
                <a:latin typeface="Calibri"/>
              </a:rPr>
              <a:t> from its behavioural dynamics rather than memorised signatures?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